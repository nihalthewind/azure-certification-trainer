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Course AZ-104T00-A: Microsoft Azure Administrator: https://learn.microsoft.com/en-us/training/courses/az-104t00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Course AZ-104T00-A: Microsoft Azure Administrator: https://learn.microsoft.com/en-us/training/courses/az-104t00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Course AZ-104T00-A: Microsoft Azure Administrator: https://learn.microsoft.com/en-us/training/courses/az-104t00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AZ-104: Manage identities and governance in Azure: https://learn.microsoft.com/en-us/training/paths/az-104-manage-identities-governance/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AZ-104: Manage identities and governance in Azure: https://learn.microsoft.com/en-us/training/paths/az-104-manage-identities-governance/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AZ-104: Manage identities and governance in Azure: https://learn.microsoft.com/en-us/training/paths/az-104-manage-identities-governance/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AZ-104: Manage identities and governance in Azure: https://learn.microsoft.com/en-us/training/paths/az-104-manage-identities-governance/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Azure deny assignments: https://learn.microsoft.com/azure/role-based-access-control/deny-assignments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AZ-104: Manage identities and governance in Azure: https://learn.microsoft.com/en-us/training/paths/az-104-manage-identities-governance/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Azure Private Link FAQ: https://learn.microsoft.com/en-us/azure/private-link/private-link-faq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VPN Gateway design: https://learn.microsoft.com/en-us/azure/vpn-gateway/design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Course AZ-104T00-A: Microsoft Azure Administrator: https://learn.microsoft.com/en-us/training/courses/az-104t00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Course AZ-104T00-A: Microsoft Azure Administrator: https://learn.microsoft.com/en-us/training/courses/az-104t00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Azure Private Link FAQ: https://learn.microsoft.com/en-us/azure/private-link/private-link-faq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AZ-104: Manage identities and governance in Azure: https://learn.microsoft.com/en-us/training/paths/az-104-manage-identities-governance/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Azure Private Link FAQ: https://learn.microsoft.com/en-us/azure/private-link/private-link-faq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Azure CLI az site-recovery: https://learn.microsoft.com/en-us/cli/azure/site-recovery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Course AZ-104T00-A: Microsoft Azure Administrator: https://learn.microsoft.com/en-us/training/courses/az-104t00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Microsoft Learn - Study guide for Exam AZ-104: Microsoft Azure Administrator, skills measured as of April 17, 2026: https://learn.microsoft.com/en-us/credentials/certifications/resources/study-guides/az-104
- Microsoft Learn - Course AZ-104T00-A: Microsoft Azure Administrator: https://learn.microsoft.com/en-us/training/courses/az-104t00
- Microsoft Learn - AZ-104: Manage identities and governance in Azure: https://learn.microsoft.com/en-us/training/paths/az-104-manage-identities-governance/
- Microsoft Learn - Azure Private Link FAQ: https://learn.microsoft.com/en-us/azure/private-link/private-link-faq
- Microsoft Learn - VPN Gateway design: https://learn.microsoft.com/en-us/azure/vpn-gateway/design
- Microsoft Learn - Azure deny assignments: https://learn.microsoft.com/azure/role-based-access-control/deny-assignments
- Microsoft Learn - Azure CLI az site-recovery: https://learn.microsoft.com/en-us/cli/azure/site-recovery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DD6D6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94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D6D6"/>
                </a:solidFill>
              </a:rPr>
              <a:t>AZ-104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7FB"/>
                </a:solidFill>
              </a:rPr>
              <a:t>Infrastructure Azure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9B8CD"/>
                </a:solidFill>
              </a:rPr>
              <a:t>Cours structuré + annexe rapide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3246120"/>
            <a:ext cx="4754880" cy="987552"/>
          </a:xfrm>
          <a:prstGeom prst="roundRect">
            <a:avLst>
              <a:gd name="adj" fmla="val 5556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290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D6D6"/>
                </a:solidFill>
              </a:rPr>
              <a:t>Objectif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6941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7FB"/>
                </a:solidFill>
              </a:rPr>
              <a:t>Comprendre le squelette Azure puis retrouver une info en moins de 10 secondes pendant les QCM.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937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4D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120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Identité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529437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0320" y="4937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B68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4328" y="5120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Gouvernance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529437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97680" y="4937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5120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Stockage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529437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35040" y="4937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5120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Compute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09560" y="529437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72400" y="4937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36408" y="5120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Réseau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46920" y="529437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09760" y="4937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5D7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3768" y="5120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Supervision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4A3"/>
                </a:solidFill>
              </a:rPr>
              <a:t>Aligné sur les compétences Microsoft Learn AZ-104 • version étendue v3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 d’emploi : lire vite, retrouver vite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2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4D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D6D6"/>
                </a:solidFill>
              </a:rPr>
              <a:t>Utilisation • lecture 3 niveaux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94360" y="150876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64008" cy="10972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67335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1. Comprendre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" y="2039112"/>
            <a:ext cx="312724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B8CD"/>
                </a:solidFill>
              </a:rPr>
              <a:t>Lis les parties 1 à 5 dans l’ordre officiel : Identity, Storage, Compute, Network, Monitor.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50876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508760"/>
            <a:ext cx="64008" cy="1097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67335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2. S’entraîner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2039112"/>
            <a:ext cx="312724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B8CD"/>
                </a:solidFill>
              </a:rPr>
              <a:t>Pendant les questions, utilise les déclencheurs : mot-clé → service → décision.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92440" y="150876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1508760"/>
            <a:ext cx="64008" cy="1097280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67335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3. Rechercher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93608" y="2039112"/>
            <a:ext cx="312724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B8CD"/>
                </a:solidFill>
              </a:rPr>
              <a:t>Utilise l’annexe : oppositions, commandes, pièges et index alphabétique.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3063240"/>
            <a:ext cx="2139696" cy="448056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108960"/>
            <a:ext cx="1993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Besoin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71216" y="3063240"/>
            <a:ext cx="3621024" cy="448056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368" y="3108960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Où aller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92240" y="3063240"/>
            <a:ext cx="4937760" cy="448056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3108960"/>
            <a:ext cx="4791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Exemple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1520" y="3511296"/>
            <a:ext cx="2139696" cy="448056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557016"/>
            <a:ext cx="1993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Je ne sais pas quel service choisir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2871216" y="3511296"/>
            <a:ext cx="3621024" cy="448056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3557016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Slides “déclencheurs examen”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6492240" y="3511296"/>
            <a:ext cx="4937760" cy="448056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3557016"/>
            <a:ext cx="4791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SAS, Private Endpoint, ASR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31520" y="3959352"/>
            <a:ext cx="2139696" cy="448056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4005072"/>
            <a:ext cx="1993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Je confonds deux notions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2871216" y="3959352"/>
            <a:ext cx="3621024" cy="448056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44368" y="4005072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Annexe oppositions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6492240" y="3959352"/>
            <a:ext cx="4937760" cy="448056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4005072"/>
            <a:ext cx="4791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RBAC vs Policy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731520" y="4407408"/>
            <a:ext cx="2139696" cy="448056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4453128"/>
            <a:ext cx="1993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Je dois dépanner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2871216" y="4407408"/>
            <a:ext cx="3621024" cy="448056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44368" y="4453128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Playbooks réseau/monitor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6492240" y="4407408"/>
            <a:ext cx="4937760" cy="448056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4453128"/>
            <a:ext cx="4791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NSG, route, DNS, probe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731520" y="4855464"/>
            <a:ext cx="2139696" cy="448056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" y="4901184"/>
            <a:ext cx="1993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Je veux vérifier une commande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2871216" y="4855464"/>
            <a:ext cx="3621024" cy="448056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44368" y="4901184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Annexe CLI/PowerShell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6492240" y="4855464"/>
            <a:ext cx="4937760" cy="448056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65392" y="4901184"/>
            <a:ext cx="4791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 role assignment list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officiel AZ-104 : 5 blocs à couvrir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4D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D6D6"/>
                </a:solidFill>
              </a:rPr>
              <a:t>Blueprint Microsoft • Apr. 17 2026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77724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</a:rPr>
              <a:t>Identity &amp; governance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1463040"/>
            <a:ext cx="4663440" cy="109728"/>
          </a:xfrm>
          <a:prstGeom prst="rect">
            <a:avLst/>
          </a:prstGeom>
          <a:solidFill>
            <a:srgbClr val="2841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463040"/>
            <a:ext cx="4663440" cy="109728"/>
          </a:xfrm>
          <a:prstGeom prst="rect">
            <a:avLst/>
          </a:prstGeom>
          <a:solidFill>
            <a:srgbClr val="B68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399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689FF"/>
                </a:solidFill>
              </a:rPr>
              <a:t>20-25%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0" y="1399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8CD"/>
                </a:solidFill>
              </a:rPr>
              <a:t>Users, groups, RBAC, Policy, costs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</a:rPr>
              <a:t>Storage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2103120"/>
            <a:ext cx="4663440" cy="109728"/>
          </a:xfrm>
          <a:prstGeom prst="rect">
            <a:avLst/>
          </a:prstGeom>
          <a:solidFill>
            <a:srgbClr val="2841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2103120"/>
            <a:ext cx="3730752" cy="109728"/>
          </a:xfrm>
          <a:prstGeom prst="rect">
            <a:avLst/>
          </a:prstGeom>
          <a:solidFill>
            <a:srgbClr val="FFB8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0391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6B"/>
                </a:solidFill>
              </a:rPr>
              <a:t>15-20%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0" y="2039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8CD"/>
                </a:solidFill>
              </a:rPr>
              <a:t>Accounts, access, Blob, Files, protection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" y="2697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</a:rPr>
              <a:t>Compute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20440" y="2743200"/>
            <a:ext cx="4663440" cy="109728"/>
          </a:xfrm>
          <a:prstGeom prst="rect">
            <a:avLst/>
          </a:prstGeom>
          <a:solidFill>
            <a:srgbClr val="2841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2743200"/>
            <a:ext cx="4663440" cy="109728"/>
          </a:xfrm>
          <a:prstGeom prst="rect">
            <a:avLst/>
          </a:prstGeom>
          <a:solidFill>
            <a:srgbClr val="5B8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267919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CFF"/>
                </a:solidFill>
              </a:rPr>
              <a:t>20-25%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0" y="2679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8CD"/>
                </a:solidFill>
              </a:rPr>
              <a:t>ARM/Bicep, VM, containers, App Service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724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</a:rPr>
              <a:t>Networking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20440" y="3383280"/>
            <a:ext cx="4663440" cy="109728"/>
          </a:xfrm>
          <a:prstGeom prst="rect">
            <a:avLst/>
          </a:prstGeom>
          <a:solidFill>
            <a:srgbClr val="2841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3383280"/>
            <a:ext cx="3730752" cy="109728"/>
          </a:xfrm>
          <a:prstGeom prst="rect">
            <a:avLst/>
          </a:prstGeom>
          <a:solidFill>
            <a:srgbClr val="6EE7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33192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15-20%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0" y="33192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8CD"/>
                </a:solidFill>
              </a:rPr>
              <a:t>VNet, NSG, routes, endpoints, LB, DNS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77240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</a:rPr>
              <a:t>Monitor &amp; maintain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20440" y="4023360"/>
            <a:ext cx="4663440" cy="109728"/>
          </a:xfrm>
          <a:prstGeom prst="rect">
            <a:avLst/>
          </a:prstGeom>
          <a:solidFill>
            <a:srgbClr val="2841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0440" y="4023360"/>
            <a:ext cx="2798064" cy="109728"/>
          </a:xfrm>
          <a:prstGeom prst="rect">
            <a:avLst/>
          </a:prstGeom>
          <a:solidFill>
            <a:srgbClr val="F5D7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395935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D76E"/>
                </a:solidFill>
              </a:rPr>
              <a:t>10-15%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0" y="39593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8CD"/>
                </a:solidFill>
              </a:rPr>
              <a:t>Monitor, alerts, Insights, Backup, ASR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1520" y="498348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" y="4983480"/>
            <a:ext cx="64008" cy="77724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5148072"/>
            <a:ext cx="1035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Règle de préparation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32688" y="5513832"/>
            <a:ext cx="103510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8CD"/>
                </a:solidFill>
              </a:rPr>
              <a:t>Le cours suit l’ordre du guide Microsoft Learn. L’annexe inverse l’ordre : tu pars d’un mot-clé de QCM pour retrouver la décision rapidement.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carte mentale : “Qui ? Quoi ? Où ? Comment ?”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4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4D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D6D6"/>
                </a:solidFill>
              </a:rPr>
              <a:t>Modèle global • à mémoriser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60020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B68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783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Qui 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Entra 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95681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94660" y="160020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8668" y="1783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Quoi 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Ressources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69180" y="195681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160020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1783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Où 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Région/RG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195681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38060" y="160020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2068" y="1783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Réseau 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VNet/NSG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12580" y="195681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09760" y="160020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5D7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73768" y="1783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Contrôle 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Monitor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2971800"/>
            <a:ext cx="10698480" cy="960120"/>
          </a:xfrm>
          <a:prstGeom prst="roundRect">
            <a:avLst>
              <a:gd name="adj" fmla="val 5714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2971800"/>
            <a:ext cx="64008" cy="96012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3136392"/>
            <a:ext cx="1035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</a:rPr>
              <a:t>Phrase pivot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" y="3502152"/>
            <a:ext cx="103510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8CD"/>
                </a:solidFill>
              </a:rPr>
              <a:t>Entra identifie, RBAC autorise, Policy gouverne, VNet connecte, NSG filtre, Route dirige, Compute exécute, Storage conserve, Monitor observe, Backup restaure et Site Recovery bascule.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4343400"/>
            <a:ext cx="3291840" cy="1188720"/>
          </a:xfrm>
          <a:prstGeom prst="roundRect">
            <a:avLst>
              <a:gd name="adj" fmla="val 3846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446227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DD6D6"/>
                </a:solidFill>
              </a:rPr>
              <a:t>Ce que l’examen teste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9536" y="4727448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Ta capacité à choisir le bon service, le bon scope et la méthode la plus simple selon une contrainte.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4434840" y="4343400"/>
            <a:ext cx="3291840" cy="1188720"/>
          </a:xfrm>
          <a:prstGeom prst="roundRect">
            <a:avLst>
              <a:gd name="adj" fmla="val 3846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62856" y="446227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7A"/>
                </a:solidFill>
              </a:rPr>
              <a:t>Ce qu’il ne faut pas faire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62856" y="4727448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Mémoriser des réponses sans relier les services au problème métier : accès, réseau, coût, disponibilité, reprise.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138160" y="4343400"/>
            <a:ext cx="3291840" cy="1188720"/>
          </a:xfrm>
          <a:prstGeom prst="roundRect">
            <a:avLst>
              <a:gd name="adj" fmla="val 3846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66176" y="446227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Méthode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66176" y="4727448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Pour chaque question : ressource → contrainte → service → configuration → validation.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Deux plans à distinguer : gestion et données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5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4D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D6D6"/>
                </a:solidFill>
              </a:rPr>
              <a:t>Architecture mentale • ARM + Data plane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417320"/>
            <a:ext cx="64008" cy="141732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581912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Plan de gestion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1947672"/>
            <a:ext cx="459028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8CD"/>
                </a:solidFill>
              </a:rPr>
              <a:t>Créer, modifier, supprimer, configurer.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9B8CD"/>
                </a:solidFill>
              </a:rPr>
              <a:t>Outils : Portail, CLI, PowerShell, ARM/Bicep.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9B8CD"/>
                </a:solidFill>
              </a:rPr>
              <a:t>Contrôle : Azure RBAC sur un scope.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492240" y="141732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417320"/>
            <a:ext cx="64008" cy="1417320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1581912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Plan de données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93408" y="1947672"/>
            <a:ext cx="459028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8CD"/>
                </a:solidFill>
              </a:rPr>
              <a:t>Lire/écrire des données dans un service.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9B8CD"/>
                </a:solidFill>
              </a:rPr>
              <a:t>Exemples : blob, fichier, queue, base.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9B8CD"/>
                </a:solidFill>
              </a:rPr>
              <a:t>Contrôle : clés, SAS, RBAC data-plane, firewall.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22960" y="3703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B68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886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Tenant Entra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97480" y="4059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94660" y="3703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4DD6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58668" y="3886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Management Group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69180" y="4059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66360" y="3703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3886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Subscription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40880" y="4059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38060" y="3703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2068" y="3886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Resource Group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212580" y="4059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09760" y="3703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73768" y="3886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Resource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48006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7FB"/>
                </a:solidFill>
              </a:rPr>
              <a:t>Important : Entra ID est le plan d’identité. La hiérarchie ARM commence aux management groups/subscriptions.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689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31520"/>
            <a:ext cx="118872" cy="5394960"/>
          </a:xfrm>
          <a:prstGeom prst="rect">
            <a:avLst/>
          </a:prstGeom>
          <a:solidFill>
            <a:srgbClr val="B68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</a:rPr>
              <a:t>01 — Identité &amp; gouvernance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96112" y="290779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8CD"/>
                </a:solidFill>
              </a:rPr>
              <a:t>Qui peut faire quoi, sur quoi, avec quelles règles 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915400" y="228600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101F35"/>
          </a:solidFill>
          <a:ln w="15240">
            <a:solidFill>
              <a:srgbClr val="B68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0" y="25328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689FF"/>
                </a:solidFill>
              </a:rPr>
              <a:t>AZ-104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0" y="28346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B8CD"/>
                </a:solidFill>
              </a:rPr>
              <a:t>référence rapide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6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&amp; GOVERNANCE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 ID n’est pas la hiérarchie des ressources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7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B68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689FF"/>
                </a:solidFill>
              </a:rPr>
              <a:t>20-25% • Identity &amp; Governance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4572000" cy="2743200"/>
          </a:xfrm>
          <a:prstGeom prst="roundRect">
            <a:avLst>
              <a:gd name="adj" fmla="val 2000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417320"/>
            <a:ext cx="64008" cy="2743200"/>
          </a:xfrm>
          <a:prstGeom prst="rect">
            <a:avLst/>
          </a:prstGeom>
          <a:solidFill>
            <a:srgbClr val="B689FF"/>
          </a:solidFill>
          <a:ln w="12700">
            <a:solidFill>
              <a:srgbClr val="B689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158191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Plan d’identité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8408" y="1947672"/>
            <a:ext cx="4224528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A9B8CD"/>
                </a:solidFill>
              </a:rPr>
              <a:t>Microsoft Entra ID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A9B8CD"/>
                </a:solidFill>
              </a:rPr>
              <a:t>• Users / groups / devices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A9B8CD"/>
                </a:solidFill>
              </a:rPr>
              <a:t>• Guests / external users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A9B8CD"/>
                </a:solidFill>
              </a:rPr>
              <a:t>• Licenses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A9B8CD"/>
                </a:solidFill>
              </a:rPr>
              <a:t>• SSPR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A9B8CD"/>
                </a:solidFill>
              </a:rPr>
              <a:t>• Service principals / managed identities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6812280" y="1417320"/>
            <a:ext cx="4572000" cy="2743200"/>
          </a:xfrm>
          <a:prstGeom prst="roundRect">
            <a:avLst>
              <a:gd name="adj" fmla="val 2000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1417320"/>
            <a:ext cx="64008" cy="274320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13448" y="158191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Plan de ressources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13448" y="1947672"/>
            <a:ext cx="4224528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A9B8CD"/>
                </a:solidFill>
              </a:rPr>
              <a:t>Azure Resource Manager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A9B8CD"/>
                </a:solidFill>
              </a:rPr>
              <a:t>• Management groups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A9B8CD"/>
                </a:solidFill>
              </a:rPr>
              <a:t>• Subscriptions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A9B8CD"/>
                </a:solidFill>
              </a:rPr>
              <a:t>• Resource groups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A9B8CD"/>
                </a:solidFill>
              </a:rPr>
              <a:t>• Resources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A9B8CD"/>
                </a:solidFill>
              </a:rPr>
              <a:t>• Tags / Locks / Policy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5440680" y="2788920"/>
            <a:ext cx="1234440" cy="0"/>
          </a:xfrm>
          <a:prstGeom prst="line">
            <a:avLst/>
          </a:prstGeom>
          <a:noFill/>
          <a:ln w="2540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30352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7FB"/>
                </a:solidFill>
              </a:rPr>
              <a:t>RBAC relie les deux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4617720"/>
            <a:ext cx="10607040" cy="731520"/>
          </a:xfrm>
          <a:prstGeom prst="roundRect">
            <a:avLst>
              <a:gd name="adj" fmla="val 7500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617720"/>
            <a:ext cx="64008" cy="73152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4782312"/>
            <a:ext cx="10259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Question type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408" y="5148072"/>
            <a:ext cx="10259568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8CD"/>
                </a:solidFill>
              </a:rPr>
              <a:t>“Donner à un groupe le droit de gérer les VM dans un resource group” → groupe Entra + rôle RBAC + scope RG.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&amp; GOVERNANCE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Users, groups, guests, licenses, SSPR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8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B68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689FF"/>
                </a:solidFill>
              </a:rPr>
              <a:t>Cible examen • manage Entra users/groups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1783080" cy="51816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463040"/>
            <a:ext cx="16367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Objet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14600" y="1417320"/>
            <a:ext cx="4160520" cy="51816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463040"/>
            <a:ext cx="401421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À savoir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675120" y="1417320"/>
            <a:ext cx="4754880" cy="51816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463040"/>
            <a:ext cx="46085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Déclencheur QCM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1935480"/>
            <a:ext cx="1783080" cy="5181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1981200"/>
            <a:ext cx="16367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User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2514600" y="1935480"/>
            <a:ext cx="4160520" cy="5181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1981200"/>
            <a:ext cx="401421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Compte interne, propriétés, restauration/suppression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6675120" y="1935480"/>
            <a:ext cx="4754880" cy="5181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19812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employé, admin, utilisateur supprimé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31520" y="2453640"/>
            <a:ext cx="1783080" cy="5181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499360"/>
            <a:ext cx="16367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Group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2514600" y="2453640"/>
            <a:ext cx="4160520" cy="5181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87752" y="2499360"/>
            <a:ext cx="401421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Affecter droits/licences à plusieurs personnes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6675120" y="2453640"/>
            <a:ext cx="4754880" cy="5181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2499360"/>
            <a:ext cx="46085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éviter les attributions individuelles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31520" y="2971800"/>
            <a:ext cx="1783080" cy="5181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017520"/>
            <a:ext cx="16367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Guest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2514600" y="2971800"/>
            <a:ext cx="4160520" cy="5181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3017520"/>
            <a:ext cx="401421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Collaboration B2B externe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6675120" y="2971800"/>
            <a:ext cx="4754880" cy="5181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48272" y="3017520"/>
            <a:ext cx="46085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consultant/fournisseur externe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31520" y="3489960"/>
            <a:ext cx="1783080" cy="5181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3535680"/>
            <a:ext cx="16367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License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2514600" y="3489960"/>
            <a:ext cx="4160520" cy="5181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87752" y="3535680"/>
            <a:ext cx="401421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Attribuer fonctionnalités cloud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6675120" y="3489960"/>
            <a:ext cx="4754880" cy="5181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48272" y="3535680"/>
            <a:ext cx="46085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accès à un service Microsoft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731520" y="4008120"/>
            <a:ext cx="1783080" cy="5181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4053840"/>
            <a:ext cx="16367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SSPR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2514600" y="4008120"/>
            <a:ext cx="4160520" cy="5181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87752" y="4053840"/>
            <a:ext cx="401421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Utilisateur réinitialise son mot de passe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6675120" y="4008120"/>
            <a:ext cx="4754880" cy="5181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48272" y="4053840"/>
            <a:ext cx="46085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réduire les tickets password reset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822960" y="4892040"/>
            <a:ext cx="3200400" cy="868680"/>
          </a:xfrm>
          <a:prstGeom prst="roundRect">
            <a:avLst>
              <a:gd name="adj" fmla="val 5263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0976" y="501091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Principe support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50976" y="527608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Favorise groupes + rôles plutôt qu’utilisateurs individuellement.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4480560" y="4892040"/>
            <a:ext cx="3200400" cy="868680"/>
          </a:xfrm>
          <a:prstGeom prst="roundRect">
            <a:avLst>
              <a:gd name="adj" fmla="val 5263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08576" y="501091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7A"/>
                </a:solidFill>
              </a:rPr>
              <a:t>Piège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608576" y="527608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Ne mélange pas Entra roles et Azure RBAC roles : les cibles ne sont pas les mêmes.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8138160" y="4892040"/>
            <a:ext cx="3200400" cy="868680"/>
          </a:xfrm>
          <a:prstGeom prst="roundRect">
            <a:avLst>
              <a:gd name="adj" fmla="val 5263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66176" y="501091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6B"/>
                </a:solidFill>
              </a:rPr>
              <a:t>À vérifier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266176" y="527608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P1/P2 peut être requis selon fonctions avancées Entra.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&amp; GOVERNANCE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RBAC : principal + rôle +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B68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689FF"/>
                </a:solidFill>
              </a:rPr>
              <a:t>Accès • qui peut faire quoi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55448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B68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73736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Principal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User/Group/App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911096"/>
            <a:ext cx="9753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18560" y="155448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2568" y="173736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Role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Reader/Contributor/...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93080" y="1911096"/>
            <a:ext cx="9753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14160" y="155448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8168" y="173736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Scope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MG/Sub/RG/Resource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88680" y="1911096"/>
            <a:ext cx="9753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09760" y="155448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3768" y="173736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Assignment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permission effective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3108960"/>
            <a:ext cx="1650569" cy="4572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154680"/>
            <a:ext cx="15042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Scope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27809" y="3108960"/>
            <a:ext cx="2640911" cy="4572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0961" y="3154680"/>
            <a:ext cx="2494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Quand l’utiliser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68721" y="3108960"/>
            <a:ext cx="2200759" cy="4572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1873" y="3154680"/>
            <a:ext cx="2054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Risque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7240" y="3566160"/>
            <a:ext cx="1650569" cy="4572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3611880"/>
            <a:ext cx="15042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Subscription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2427809" y="3566160"/>
            <a:ext cx="2640911" cy="4572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00961" y="3611880"/>
            <a:ext cx="2494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Administrer un environnement complet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068721" y="3566160"/>
            <a:ext cx="2200759" cy="4572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1873" y="3611880"/>
            <a:ext cx="2054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trop large pour un besoin ponctuel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777240" y="4023360"/>
            <a:ext cx="1650569" cy="4572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4069080"/>
            <a:ext cx="15042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Resource group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2427809" y="4023360"/>
            <a:ext cx="2640911" cy="4572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00961" y="4069080"/>
            <a:ext cx="2494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Équipe responsable d’une application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5068721" y="4023360"/>
            <a:ext cx="2200759" cy="4572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41873" y="4069080"/>
            <a:ext cx="2054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bon compromis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777240" y="4480560"/>
            <a:ext cx="1650569" cy="4572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" y="4526280"/>
            <a:ext cx="15042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Resource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2427809" y="4480560"/>
            <a:ext cx="2640911" cy="4572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00961" y="4526280"/>
            <a:ext cx="2494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Accès à un service précis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5068721" y="4480560"/>
            <a:ext cx="2200759" cy="4572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1873" y="4526280"/>
            <a:ext cx="2054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gestion plus fine mais plus de maintenance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7589520" y="3108960"/>
            <a:ext cx="3749040" cy="1828800"/>
          </a:xfrm>
          <a:prstGeom prst="roundRect">
            <a:avLst>
              <a:gd name="adj" fmla="val 3000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89520" y="3108960"/>
            <a:ext cx="64008" cy="182880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90688" y="327355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Correction importante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790688" y="3639312"/>
            <a:ext cx="340156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9B8CD"/>
                </a:solidFill>
              </a:rPr>
              <a:t>RBAC sert principalement à accorder des permissions. Les deny assignments existent mais sont un mécanisme séparé, souvent géré par Azure.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&amp; GOVERNANCE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Gouvernance : choisir l’outil juste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10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B68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689FF"/>
                </a:solidFill>
              </a:rPr>
              <a:t>Policy / Locks / Tags • à ne pas confondre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31520" y="1325880"/>
            <a:ext cx="2155664" cy="5486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371600"/>
            <a:ext cx="20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Outil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87184" y="1325880"/>
            <a:ext cx="3752452" cy="5486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0336" y="1371600"/>
            <a:ext cx="3606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Question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639636" y="1325880"/>
            <a:ext cx="4790364" cy="5486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2788" y="1371600"/>
            <a:ext cx="4644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Exemple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1874520"/>
            <a:ext cx="2155664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1920240"/>
            <a:ext cx="20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RBAC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2887184" y="1874520"/>
            <a:ext cx="3752452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60336" y="1920240"/>
            <a:ext cx="3606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Qui peut faire quoi ?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6639636" y="1874520"/>
            <a:ext cx="4790364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12788" y="1920240"/>
            <a:ext cx="4644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VM Contributor sur RG-Prod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31520" y="2423160"/>
            <a:ext cx="2155664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468880"/>
            <a:ext cx="20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Policy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2887184" y="2423160"/>
            <a:ext cx="3752452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60336" y="2468880"/>
            <a:ext cx="3606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Qu’est-ce qui est autorisé ou conforme ?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6639636" y="2423160"/>
            <a:ext cx="4790364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12788" y="2468880"/>
            <a:ext cx="4644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déployer seulement en France Central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31520" y="2971800"/>
            <a:ext cx="2155664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017520"/>
            <a:ext cx="20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Initiative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2887184" y="2971800"/>
            <a:ext cx="3752452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60336" y="3017520"/>
            <a:ext cx="3606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Groupe de policies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6639636" y="2971800"/>
            <a:ext cx="4790364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12788" y="3017520"/>
            <a:ext cx="4644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baseline sécurité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31520" y="3520440"/>
            <a:ext cx="2155664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3566160"/>
            <a:ext cx="20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Lock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2887184" y="3520440"/>
            <a:ext cx="3752452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60336" y="3566160"/>
            <a:ext cx="3606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Peut-on modifier/supprimer ?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6639636" y="3520440"/>
            <a:ext cx="4790364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2788" y="3566160"/>
            <a:ext cx="4644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CanNotDelete sur un RG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731520" y="4069080"/>
            <a:ext cx="2155664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4114800"/>
            <a:ext cx="20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Tag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2887184" y="4069080"/>
            <a:ext cx="3752452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60336" y="4114800"/>
            <a:ext cx="3606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Comment classer/facturer ?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6639636" y="4069080"/>
            <a:ext cx="4790364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12788" y="4114800"/>
            <a:ext cx="4644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Env=Prod, CostCenter=IT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731520" y="4617720"/>
            <a:ext cx="2155664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" y="4663440"/>
            <a:ext cx="20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Budget/Advisor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2887184" y="4617720"/>
            <a:ext cx="3752452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60336" y="4663440"/>
            <a:ext cx="3606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Coût et optimisation ?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6639636" y="4617720"/>
            <a:ext cx="4790364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12788" y="4663440"/>
            <a:ext cx="4644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alerte budget, recommandations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822960" y="548640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7FB"/>
                </a:solidFill>
              </a:rPr>
              <a:t>Réflexe examen : si la question parle de conformité globale → Policy. Si elle parle d’autorisation utilisateur → RBAC.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&amp; GOVERNANCE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Déclencheurs identité/gouvernance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11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B68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689FF"/>
                </a:solidFill>
              </a:rPr>
              <a:t>QCM • réflexes rapides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325880"/>
            <a:ext cx="3030583" cy="600891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371600"/>
            <a:ext cx="2884279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Si tu lis...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07823" y="1325880"/>
            <a:ext cx="3788229" cy="600891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0975" y="1371600"/>
            <a:ext cx="3641925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Pense à...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96051" y="1325880"/>
            <a:ext cx="3788229" cy="600891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9203" y="1371600"/>
            <a:ext cx="3641925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Pourquoi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1926771"/>
            <a:ext cx="3030583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1972491"/>
            <a:ext cx="2884279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least privilege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3807823" y="1926771"/>
            <a:ext cx="3788229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0975" y="1972491"/>
            <a:ext cx="3641925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scope le plus bas + rôle minimal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7596051" y="1926771"/>
            <a:ext cx="3788229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69203" y="1972491"/>
            <a:ext cx="3641925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limiter l’impact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527663"/>
            <a:ext cx="3030583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573383"/>
            <a:ext cx="2884279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plusieurs utilisateurs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3807823" y="2527663"/>
            <a:ext cx="3788229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0975" y="2573383"/>
            <a:ext cx="3641925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groupe Entra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596051" y="2527663"/>
            <a:ext cx="3788229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69203" y="2573383"/>
            <a:ext cx="3641925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éviter gestion individuelle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77240" y="3128554"/>
            <a:ext cx="3030583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174274"/>
            <a:ext cx="2884279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région autorisée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3807823" y="3128554"/>
            <a:ext cx="3788229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80975" y="3174274"/>
            <a:ext cx="3641925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Azure Policy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7596051" y="3128554"/>
            <a:ext cx="3788229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9203" y="3174274"/>
            <a:ext cx="3641925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contrainte de conformité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77240" y="3729446"/>
            <a:ext cx="3030583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3775166"/>
            <a:ext cx="2884279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empêcher suppression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3807823" y="3729446"/>
            <a:ext cx="3788229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80975" y="3775166"/>
            <a:ext cx="3641925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resource lock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596051" y="3729446"/>
            <a:ext cx="3788229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69203" y="3775166"/>
            <a:ext cx="3641925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contrainte opérationnelle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777240" y="4330337"/>
            <a:ext cx="3030583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" y="4376057"/>
            <a:ext cx="2884279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coûts par projet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3807823" y="4330337"/>
            <a:ext cx="3788229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80975" y="4376057"/>
            <a:ext cx="3641925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tags + cost management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7596051" y="4330337"/>
            <a:ext cx="3788229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69203" y="4376057"/>
            <a:ext cx="3641925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analyse et facturation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777240" y="4931229"/>
            <a:ext cx="3030583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" y="4976949"/>
            <a:ext cx="2884279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mot de passe oublié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3807823" y="4931229"/>
            <a:ext cx="3788229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80975" y="4976949"/>
            <a:ext cx="3641925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SSPR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7596051" y="4931229"/>
            <a:ext cx="3788229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69203" y="4976949"/>
            <a:ext cx="3641925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self-service</a:t>
            </a:r>
            <a:endParaRPr lang="en-US" sz="7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B86B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31520"/>
            <a:ext cx="118872" cy="5394960"/>
          </a:xfrm>
          <a:prstGeom prst="rect">
            <a:avLst/>
          </a:prstGeom>
          <a:solidFill>
            <a:srgbClr val="FFB8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</a:rPr>
              <a:t>02 — Stockage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96112" y="290779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8CD"/>
                </a:solidFill>
              </a:rPr>
              <a:t>Sécuriser, exposer, protéger et déplacer les données.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915400" y="228600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101F35"/>
          </a:solidFill>
          <a:ln w="15240">
            <a:solidFill>
              <a:srgbClr val="FFB8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0" y="25328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6B"/>
                </a:solidFill>
              </a:rPr>
              <a:t>AZ-104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0" y="28346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B8CD"/>
                </a:solidFill>
              </a:rPr>
              <a:t>référence rapide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12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Account : le conteneur de services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13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FB8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B86B"/>
                </a:solidFill>
              </a:rPr>
              <a:t>15-20% • Storage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Storage Account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946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4DD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86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Blob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objets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691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Files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SMB/NFS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380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20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Queues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125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097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B68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737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Tables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2834640"/>
            <a:ext cx="4937760" cy="1097280"/>
          </a:xfrm>
          <a:prstGeom prst="roundRect">
            <a:avLst>
              <a:gd name="adj" fmla="val 5000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834640"/>
            <a:ext cx="64008" cy="10972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2999232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Blob Storage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3364992"/>
            <a:ext cx="459028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8CD"/>
                </a:solidFill>
              </a:rPr>
              <a:t>Données objet : sauvegardes, images, documents, exports, logs. Organisé en containers puis blobs.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2834640"/>
            <a:ext cx="4937760" cy="1097280"/>
          </a:xfrm>
          <a:prstGeom prst="roundRect">
            <a:avLst>
              <a:gd name="adj" fmla="val 5000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2834640"/>
            <a:ext cx="64008" cy="1097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1968" y="2999232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Azure Files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01968" y="3364992"/>
            <a:ext cx="459028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8CD"/>
                </a:solidFill>
              </a:rPr>
              <a:t>Partage de fichiers managé : SMB/NFS. Utile pour lift-and-shift, profils, partages applicatifs.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965960" y="4617720"/>
            <a:ext cx="8321040" cy="731520"/>
          </a:xfrm>
          <a:prstGeom prst="roundRect">
            <a:avLst>
              <a:gd name="adj" fmla="val 6250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93976" y="4736592"/>
            <a:ext cx="8065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6B"/>
                </a:solidFill>
              </a:rPr>
              <a:t>À l’examen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093976" y="5001768"/>
            <a:ext cx="8065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Toujours identifier : type de données, accès, sécurité, redondance, protection, outil de transfert.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Accès Storage : ne donne pas les clés par réflexe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14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FB8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B86B"/>
                </a:solidFill>
              </a:rPr>
              <a:t>Sécurité • Keys / SAS / Identity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31520" y="1325880"/>
            <a:ext cx="2803740" cy="5715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371600"/>
            <a:ext cx="26574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Mécanisme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35260" y="1325880"/>
            <a:ext cx="3910479" cy="5715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8412" y="1371600"/>
            <a:ext cx="376417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Usage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445738" y="1325880"/>
            <a:ext cx="3984262" cy="5715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8890" y="1371600"/>
            <a:ext cx="383795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À retenir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1897380"/>
            <a:ext cx="2803740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1943100"/>
            <a:ext cx="26574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Access key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3535260" y="1897380"/>
            <a:ext cx="3910479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8412" y="1943100"/>
            <a:ext cx="376417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Administration large du compte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7445738" y="1897380"/>
            <a:ext cx="3984262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18890" y="1943100"/>
            <a:ext cx="383795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Très puissant, à éviter pour délégation fine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31520" y="2468880"/>
            <a:ext cx="2803740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514600"/>
            <a:ext cx="26574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SAS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3535260" y="2468880"/>
            <a:ext cx="3910479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8412" y="2514600"/>
            <a:ext cx="376417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Accès limité dans le temps/permissions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445738" y="2468880"/>
            <a:ext cx="3984262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18890" y="2514600"/>
            <a:ext cx="383795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Idéal pour accès temporaire ciblé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31520" y="3040380"/>
            <a:ext cx="2803740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086100"/>
            <a:ext cx="26574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Stored access policy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3535260" y="3040380"/>
            <a:ext cx="3910479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8412" y="3086100"/>
            <a:ext cx="376417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Centraliser/retirer des SAS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7445738" y="3040380"/>
            <a:ext cx="3984262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8890" y="3086100"/>
            <a:ext cx="383795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Révocation plus maîtrisée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31520" y="3611880"/>
            <a:ext cx="2803740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3657600"/>
            <a:ext cx="26574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Firewall/VNet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3535260" y="3611880"/>
            <a:ext cx="3910479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8412" y="3657600"/>
            <a:ext cx="376417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Limiter d’où vient le trafic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445738" y="3611880"/>
            <a:ext cx="3984262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18890" y="3657600"/>
            <a:ext cx="383795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Réseau autorisé ≠ identité autorisée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731520" y="4183380"/>
            <a:ext cx="2803740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4229100"/>
            <a:ext cx="26574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Identity-based Azure Files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3535260" y="4183380"/>
            <a:ext cx="3910479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08412" y="4229100"/>
            <a:ext cx="376417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Accès fichier avec identité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7445738" y="4183380"/>
            <a:ext cx="3984262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18890" y="4229100"/>
            <a:ext cx="383795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Scénarios AD/Entra selon configuration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777240" y="5074920"/>
            <a:ext cx="10607040" cy="640080"/>
          </a:xfrm>
          <a:prstGeom prst="roundRect">
            <a:avLst>
              <a:gd name="adj" fmla="val 8571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" y="5074920"/>
            <a:ext cx="64008" cy="6400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8408" y="5239512"/>
            <a:ext cx="10259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Déclencheur clé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78408" y="5605272"/>
            <a:ext cx="10259568" cy="-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8CD"/>
                </a:solidFill>
              </a:rPr>
              <a:t>“Accès temporaire en lecture à un fichier/blob sans donner la clé du compte” → SAS.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Redondance Storage : lire les lettres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15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FB8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B86B"/>
                </a:solidFill>
              </a:rPr>
              <a:t>LRS / ZRS / GRS / GZRS • résilience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31520" y="1371600"/>
            <a:ext cx="1808194" cy="5334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417320"/>
            <a:ext cx="166189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Type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39714" y="1371600"/>
            <a:ext cx="4821850" cy="5334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2866" y="1417320"/>
            <a:ext cx="467554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Idée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61564" y="1371600"/>
            <a:ext cx="4068436" cy="5334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34716" y="1417320"/>
            <a:ext cx="392213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Quand y penser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1905000"/>
            <a:ext cx="1808194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1950720"/>
            <a:ext cx="166189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LRS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2539714" y="1905000"/>
            <a:ext cx="4821850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2866" y="1950720"/>
            <a:ext cx="467554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Copies dans un datacenter/région locale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7361564" y="1905000"/>
            <a:ext cx="4068436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34716" y="1950720"/>
            <a:ext cx="392213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coût bas, protection limitée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31520" y="2438400"/>
            <a:ext cx="1808194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484120"/>
            <a:ext cx="166189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ZRS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2539714" y="2438400"/>
            <a:ext cx="4821850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12866" y="2484120"/>
            <a:ext cx="467554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Copies entre zones de disponibilité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361564" y="2438400"/>
            <a:ext cx="4068436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34716" y="2484120"/>
            <a:ext cx="392213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résilience zone dans une région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31520" y="2971800"/>
            <a:ext cx="1808194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017520"/>
            <a:ext cx="166189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GRS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2539714" y="2971800"/>
            <a:ext cx="4821850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12866" y="3017520"/>
            <a:ext cx="467554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Réplication vers région secondaire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7361564" y="2971800"/>
            <a:ext cx="4068436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34716" y="3017520"/>
            <a:ext cx="392213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sinistre régional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31520" y="3505200"/>
            <a:ext cx="1808194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3550920"/>
            <a:ext cx="166189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GZRS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2539714" y="3505200"/>
            <a:ext cx="4821850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12866" y="3550920"/>
            <a:ext cx="467554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ZRS + géoréplication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361564" y="3505200"/>
            <a:ext cx="4068436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34716" y="3550920"/>
            <a:ext cx="392213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résilience forte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731520" y="4038600"/>
            <a:ext cx="1808194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4084320"/>
            <a:ext cx="166189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RA-*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2539714" y="4038600"/>
            <a:ext cx="4821850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12866" y="4084320"/>
            <a:ext cx="467554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Read access vers secondaire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7361564" y="4038600"/>
            <a:ext cx="4068436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34716" y="4084320"/>
            <a:ext cx="392213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lecture possible en cas de bascule/incident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868680" y="49834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6B"/>
                </a:solidFill>
              </a:rPr>
              <a:t>Mémo : Z = Zone • G = Geo • RA = Read Access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Blob &amp; Files : tiers, versions, suppressions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16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FB8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B86B"/>
                </a:solidFill>
              </a:rPr>
              <a:t>Protection • data lifecycle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685800" y="1325880"/>
            <a:ext cx="2402378" cy="555171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371600"/>
            <a:ext cx="2256074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Fonction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88178" y="1325880"/>
            <a:ext cx="2826327" cy="555171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1330" y="1371600"/>
            <a:ext cx="2680023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Blob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14505" y="1325880"/>
            <a:ext cx="2402378" cy="555171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7657" y="1371600"/>
            <a:ext cx="2256074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Azure Files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316884" y="1325880"/>
            <a:ext cx="3250276" cy="555171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0036" y="1371600"/>
            <a:ext cx="310397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But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" y="1881051"/>
            <a:ext cx="2402378" cy="55517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1926771"/>
            <a:ext cx="2256074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Tier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3088178" y="1881051"/>
            <a:ext cx="2826327" cy="55517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1330" y="1926771"/>
            <a:ext cx="2680023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Hot/Cool/Cold/Archive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5914505" y="1881051"/>
            <a:ext cx="2402378" cy="55517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7657" y="1926771"/>
            <a:ext cx="2256074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-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8316884" y="1881051"/>
            <a:ext cx="3250276" cy="55517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0036" y="1926771"/>
            <a:ext cx="310397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optimiser coût selon usage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685800" y="2436223"/>
            <a:ext cx="2402378" cy="55517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2481943"/>
            <a:ext cx="2256074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Lifecycle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088178" y="2436223"/>
            <a:ext cx="2826327" cy="55517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1330" y="2481943"/>
            <a:ext cx="2680023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Oui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5914505" y="2436223"/>
            <a:ext cx="2402378" cy="55517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7657" y="2481943"/>
            <a:ext cx="2256074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-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8316884" y="2436223"/>
            <a:ext cx="3250276" cy="55517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90036" y="2481943"/>
            <a:ext cx="310397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automatiser déplacement/suppression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685800" y="2991394"/>
            <a:ext cx="2402378" cy="55517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" y="3037114"/>
            <a:ext cx="2256074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Soft delete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3088178" y="2991394"/>
            <a:ext cx="2826327" cy="55517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61330" y="3037114"/>
            <a:ext cx="2680023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blob/container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914505" y="2991394"/>
            <a:ext cx="2402378" cy="55517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7657" y="3037114"/>
            <a:ext cx="2256074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file share/fichier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8316884" y="2991394"/>
            <a:ext cx="3250276" cy="55517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90036" y="3037114"/>
            <a:ext cx="310397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récupération après suppression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685800" y="3546566"/>
            <a:ext cx="2402378" cy="55517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" y="3592286"/>
            <a:ext cx="2256074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Versioning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3088178" y="3546566"/>
            <a:ext cx="2826327" cy="55517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61330" y="3592286"/>
            <a:ext cx="2680023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Oui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5914505" y="3546566"/>
            <a:ext cx="2402378" cy="55517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87657" y="3592286"/>
            <a:ext cx="2256074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-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8316884" y="3546566"/>
            <a:ext cx="3250276" cy="55517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90036" y="3592286"/>
            <a:ext cx="310397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ancienne version d’objet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685800" y="4101737"/>
            <a:ext cx="2402378" cy="55517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" y="4147457"/>
            <a:ext cx="2256074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Snapshot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3088178" y="4101737"/>
            <a:ext cx="2826327" cy="55517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61330" y="4147457"/>
            <a:ext cx="2680023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Oui selon cas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5914505" y="4101737"/>
            <a:ext cx="2402378" cy="55517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87657" y="4147457"/>
            <a:ext cx="2256074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Oui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8316884" y="4101737"/>
            <a:ext cx="3250276" cy="55517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90036" y="4147457"/>
            <a:ext cx="310397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état à un instant T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685800" y="4656909"/>
            <a:ext cx="2402378" cy="55517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8952" y="4702629"/>
            <a:ext cx="2256074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Object replication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3088178" y="4656909"/>
            <a:ext cx="2826327" cy="55517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61330" y="4702629"/>
            <a:ext cx="2680023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Blob</a:t>
            </a:r>
            <a:endParaRPr lang="en-US" sz="740" dirty="0"/>
          </a:p>
        </p:txBody>
      </p:sp>
      <p:sp>
        <p:nvSpPr>
          <p:cNvPr id="62" name="Shape 60"/>
          <p:cNvSpPr/>
          <p:nvPr/>
        </p:nvSpPr>
        <p:spPr>
          <a:xfrm>
            <a:off x="5914505" y="4656909"/>
            <a:ext cx="2402378" cy="55517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87657" y="4702629"/>
            <a:ext cx="2256074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-</a:t>
            </a:r>
            <a:endParaRPr lang="en-US" sz="740" dirty="0"/>
          </a:p>
        </p:txBody>
      </p:sp>
      <p:sp>
        <p:nvSpPr>
          <p:cNvPr id="64" name="Shape 62"/>
          <p:cNvSpPr/>
          <p:nvPr/>
        </p:nvSpPr>
        <p:spPr>
          <a:xfrm>
            <a:off x="8316884" y="4656909"/>
            <a:ext cx="3250276" cy="55517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90036" y="4702629"/>
            <a:ext cx="310397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copie entre comptes</a:t>
            </a:r>
            <a:endParaRPr lang="en-US" sz="7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Outils Storage : choisir selon volume et usage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17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FB8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B86B"/>
                </a:solidFill>
              </a:rPr>
              <a:t>Outils • Portal / Explorer / AzCopy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3337560" cy="1188720"/>
          </a:xfrm>
          <a:prstGeom prst="roundRect">
            <a:avLst>
              <a:gd name="adj" fmla="val 3846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53619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DD6D6"/>
                </a:solidFill>
              </a:rPr>
              <a:t>Portal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1801368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Configuration, dépannage simple, vérification rapide.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434840" y="1417320"/>
            <a:ext cx="3337560" cy="1188720"/>
          </a:xfrm>
          <a:prstGeom prst="roundRect">
            <a:avLst>
              <a:gd name="adj" fmla="val 3846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153619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Storage Explorer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62856" y="1801368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Exploration graphique de comptes, containers, files, blobs.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337560" cy="1188720"/>
          </a:xfrm>
          <a:prstGeom prst="roundRect">
            <a:avLst>
              <a:gd name="adj" fmla="val 3846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153619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6B"/>
                </a:solidFill>
              </a:rPr>
              <a:t>AzCopy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66176" y="1801368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Transfert massif/automatisé de données vers/depuis Azure Storage.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1325880" y="3246120"/>
            <a:ext cx="4322618" cy="420624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99032" y="3291840"/>
            <a:ext cx="4176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Besoin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48498" y="3246120"/>
            <a:ext cx="5187142" cy="420624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21650" y="3291840"/>
            <a:ext cx="50408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Réponse probable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25880" y="3666744"/>
            <a:ext cx="4322618" cy="42062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99032" y="3712464"/>
            <a:ext cx="4176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Copier beaucoup de données vers un container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5648498" y="3666744"/>
            <a:ext cx="5187142" cy="42062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21650" y="3712464"/>
            <a:ext cx="50408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AzCopy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1325880" y="4087368"/>
            <a:ext cx="4322618" cy="42062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99032" y="4133088"/>
            <a:ext cx="4176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Naviguer dans Blob et Files depuis un poste admin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5648498" y="4087368"/>
            <a:ext cx="5187142" cy="42062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21650" y="4133088"/>
            <a:ext cx="50408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Storage Explorer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1325880" y="4507992"/>
            <a:ext cx="4322618" cy="42062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99032" y="4553712"/>
            <a:ext cx="4176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Configurer firewall, redundancy, encryption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5648498" y="4507992"/>
            <a:ext cx="5187142" cy="42062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21650" y="4553712"/>
            <a:ext cx="50408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Portal/CLI/PowerShell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1325880" y="4928616"/>
            <a:ext cx="4322618" cy="42062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99032" y="4974336"/>
            <a:ext cx="4176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Accès limité à un blob pour un partenaire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5648498" y="4928616"/>
            <a:ext cx="5187142" cy="42062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21650" y="4974336"/>
            <a:ext cx="50408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SAS</a:t>
            </a:r>
            <a:endParaRPr lang="en-US" sz="7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Déclencheurs stockage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18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FB8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B86B"/>
                </a:solidFill>
              </a:rPr>
              <a:t>QCM • réflexes rapides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325880"/>
            <a:ext cx="3421626" cy="600891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371600"/>
            <a:ext cx="3275322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Si tu lis...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98866" y="1325880"/>
            <a:ext cx="3626923" cy="600891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2018" y="1371600"/>
            <a:ext cx="3480619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Pense à...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825789" y="1325880"/>
            <a:ext cx="3558491" cy="600891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98941" y="1371600"/>
            <a:ext cx="3412187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Pourquoi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1926771"/>
            <a:ext cx="3421626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1972491"/>
            <a:ext cx="3275322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lecture temporaire limitée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4198866" y="1926771"/>
            <a:ext cx="3626923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2018" y="1972491"/>
            <a:ext cx="3480619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SAS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7825789" y="1926771"/>
            <a:ext cx="3558491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98941" y="1972491"/>
            <a:ext cx="3412187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contrôle fin durée/permissions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527663"/>
            <a:ext cx="3421626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573383"/>
            <a:ext cx="3275322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révocation de plusieurs SAS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4198866" y="2527663"/>
            <a:ext cx="3626923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2018" y="2573383"/>
            <a:ext cx="3480619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stored access policy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825789" y="2527663"/>
            <a:ext cx="3558491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98941" y="2573383"/>
            <a:ext cx="3412187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point de contrôle central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77240" y="3128554"/>
            <a:ext cx="3421626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174274"/>
            <a:ext cx="3275322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accès depuis subnet uniquement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4198866" y="3128554"/>
            <a:ext cx="3626923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2018" y="3174274"/>
            <a:ext cx="3480619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firewall + VNet/service endpoint/private endpoint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7825789" y="3128554"/>
            <a:ext cx="3558491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98941" y="3174274"/>
            <a:ext cx="3412187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contrainte réseau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77240" y="3729446"/>
            <a:ext cx="3421626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3775166"/>
            <a:ext cx="3275322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réduire coût objets anciens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4198866" y="3729446"/>
            <a:ext cx="3626923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72018" y="3775166"/>
            <a:ext cx="3480619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lifecycle + tiers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825789" y="3729446"/>
            <a:ext cx="3558491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98941" y="3775166"/>
            <a:ext cx="3412187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automatisation de classe de stockage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777240" y="4330337"/>
            <a:ext cx="3421626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" y="4376057"/>
            <a:ext cx="3275322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récupérer suppression accidentelle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4198866" y="4330337"/>
            <a:ext cx="3626923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72018" y="4376057"/>
            <a:ext cx="3480619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soft delete/versioning/snapshot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7825789" y="4330337"/>
            <a:ext cx="3558491" cy="600891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98941" y="4376057"/>
            <a:ext cx="3412187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protection logique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777240" y="4931229"/>
            <a:ext cx="3421626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" y="4976949"/>
            <a:ext cx="3275322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résilience zone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4198866" y="4931229"/>
            <a:ext cx="3626923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72018" y="4976949"/>
            <a:ext cx="3480619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ZRS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7825789" y="4931229"/>
            <a:ext cx="3558491" cy="600891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98941" y="4976949"/>
            <a:ext cx="3412187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copies inter-zones</a:t>
            </a:r>
            <a:endParaRPr lang="en-US" sz="7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8C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31520"/>
            <a:ext cx="118872" cy="5394960"/>
          </a:xfrm>
          <a:prstGeom prst="rect">
            <a:avLst/>
          </a:prstGeom>
          <a:solidFill>
            <a:srgbClr val="5B8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</a:rPr>
              <a:t>03 — Compute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96112" y="290779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8CD"/>
                </a:solidFill>
              </a:rPr>
              <a:t>Déployer, scaler, automatiser et héberger les workloads.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915400" y="228600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101F35"/>
          </a:solidFill>
          <a:ln w="15240">
            <a:solidFill>
              <a:srgbClr val="5B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0" y="25328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8CFF"/>
                </a:solidFill>
              </a:rPr>
              <a:t>AZ-104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0" y="28346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B8CD"/>
                </a:solidFill>
              </a:rPr>
              <a:t>référence rapide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19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Choisir le bon compute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20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5B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8CFF"/>
                </a:solidFill>
              </a:rPr>
              <a:t>20-25% • Compute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325880"/>
            <a:ext cx="2575995" cy="54102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371600"/>
            <a:ext cx="242969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Service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53235" y="1325880"/>
            <a:ext cx="3182112" cy="54102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6387" y="1371600"/>
            <a:ext cx="303580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Contrôle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5347" y="1325880"/>
            <a:ext cx="4848933" cy="54102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8499" y="1371600"/>
            <a:ext cx="4702629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Usage typique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1866900"/>
            <a:ext cx="2575995" cy="5410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1912620"/>
            <a:ext cx="242969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VM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3353235" y="1866900"/>
            <a:ext cx="3182112" cy="5410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6387" y="1912620"/>
            <a:ext cx="303580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OS complet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6535347" y="1866900"/>
            <a:ext cx="4848933" cy="5410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8499" y="1912620"/>
            <a:ext cx="4702629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legacy, contrôle fin, IaaS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407920"/>
            <a:ext cx="2575995" cy="5410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453640"/>
            <a:ext cx="242969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VMSS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3353235" y="2407920"/>
            <a:ext cx="3182112" cy="5410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6387" y="2453640"/>
            <a:ext cx="303580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groupe de VM scalable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6535347" y="2407920"/>
            <a:ext cx="4848933" cy="5410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8499" y="2453640"/>
            <a:ext cx="4702629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fleet de VM identiques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77240" y="2948940"/>
            <a:ext cx="2575995" cy="5410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2994660"/>
            <a:ext cx="242969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ACI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3353235" y="2948940"/>
            <a:ext cx="3182112" cy="5410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6387" y="2994660"/>
            <a:ext cx="303580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container simple/ponctuel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6535347" y="2948940"/>
            <a:ext cx="4848933" cy="5410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8499" y="2994660"/>
            <a:ext cx="4702629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job, test, instance rapide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77240" y="3489960"/>
            <a:ext cx="2575995" cy="5410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3535680"/>
            <a:ext cx="242969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Container Apps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3353235" y="3489960"/>
            <a:ext cx="3182112" cy="5410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6387" y="3535680"/>
            <a:ext cx="303580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app containerisée managée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6535347" y="3489960"/>
            <a:ext cx="4848933" cy="5410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8499" y="3535680"/>
            <a:ext cx="4702629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microservices, scaling HTTP/event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777240" y="4030980"/>
            <a:ext cx="2575995" cy="5410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" y="4076700"/>
            <a:ext cx="242969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App Service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3353235" y="4030980"/>
            <a:ext cx="3182112" cy="5410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26387" y="4076700"/>
            <a:ext cx="303580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PaaS web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6535347" y="4030980"/>
            <a:ext cx="4848933" cy="5410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08499" y="4076700"/>
            <a:ext cx="4702629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web apps/API sans gérer OS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822960" y="4892040"/>
            <a:ext cx="10561320" cy="640080"/>
          </a:xfrm>
          <a:prstGeom prst="roundRect">
            <a:avLst>
              <a:gd name="adj" fmla="val 8571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960" y="4892040"/>
            <a:ext cx="64008" cy="64008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4128" y="5056632"/>
            <a:ext cx="10213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Correction de vocabulaire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24128" y="5422392"/>
            <a:ext cx="10213848" cy="-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8CD"/>
                </a:solidFill>
              </a:rPr>
              <a:t>VMSS n’est pas “moins IaaS” qu’une VM : c’est surtout l’orchestration et le scaling d’un groupe de VM.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ARM &amp; Bicep : l’infrastructure déclarative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21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5B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8CFF"/>
                </a:solidFill>
              </a:rPr>
              <a:t>Automatisation • objectif officiel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508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691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Template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ARM/Bicep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865376"/>
            <a:ext cx="9753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18560" y="1508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4DD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2568" y="1691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Parameters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93080" y="1865376"/>
            <a:ext cx="9753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14160" y="1508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8168" y="1691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88680" y="1865376"/>
            <a:ext cx="9753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09760" y="1508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3768" y="1691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Resource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created/updated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0120" y="3063240"/>
            <a:ext cx="3898302" cy="429768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3108960"/>
            <a:ext cx="375199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Compétence attendue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58422" y="3063240"/>
            <a:ext cx="6297258" cy="429768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1574" y="3108960"/>
            <a:ext cx="615095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Ce que ça veut dire en QCM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60120" y="3493008"/>
            <a:ext cx="3898302" cy="429768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3538728"/>
            <a:ext cx="375199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Interpréter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4858422" y="3493008"/>
            <a:ext cx="6297258" cy="429768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1574" y="3538728"/>
            <a:ext cx="615095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identifier type, name, location, sku, dependsOn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960120" y="3922776"/>
            <a:ext cx="3898302" cy="429768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" y="3968496"/>
            <a:ext cx="375199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Modifier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4858422" y="3922776"/>
            <a:ext cx="6297258" cy="429768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1574" y="3968496"/>
            <a:ext cx="615095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changer taille, nom, paramètre, propriété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960120" y="4352544"/>
            <a:ext cx="3898302" cy="429768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72" y="4398264"/>
            <a:ext cx="375199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Déployer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4858422" y="4352544"/>
            <a:ext cx="6297258" cy="429768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1574" y="4398264"/>
            <a:ext cx="615095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resource group/subscription deployment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960120" y="4782312"/>
            <a:ext cx="3898302" cy="429768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3272" y="4828032"/>
            <a:ext cx="375199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Exporter/convertir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4858422" y="4782312"/>
            <a:ext cx="6297258" cy="429768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1574" y="4828032"/>
            <a:ext cx="615095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ARM export ou conversion vers Bicep</a:t>
            </a:r>
            <a:endParaRPr lang="en-US" sz="7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VM : anatomie et opérations fréquentes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22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5B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8CFF"/>
                </a:solidFill>
              </a:rPr>
              <a:t>VM • IaaS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VM Size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CPU/RAM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946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86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OS Disk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691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Data Disks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380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20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125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097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737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Subnet/VNet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2971800"/>
            <a:ext cx="3413760" cy="4343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017520"/>
            <a:ext cx="3267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Sujet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28160" y="2971800"/>
            <a:ext cx="6827520" cy="4343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1312" y="3017520"/>
            <a:ext cx="66812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À retenir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14400" y="3406140"/>
            <a:ext cx="3413760" cy="4343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3451860"/>
            <a:ext cx="3267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Size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4328160" y="3406140"/>
            <a:ext cx="6827520" cy="4343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01312" y="3451860"/>
            <a:ext cx="66812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scale up/down selon CPU/RAM/IO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914400" y="3840480"/>
            <a:ext cx="3413760" cy="4343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3886200"/>
            <a:ext cx="3267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Disks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4328160" y="3840480"/>
            <a:ext cx="6827520" cy="4343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1312" y="3886200"/>
            <a:ext cx="66812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managed disks, data disk, OS disk, performance tier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914400" y="4274820"/>
            <a:ext cx="3413760" cy="4343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4320540"/>
            <a:ext cx="3267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Encryption at host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4328160" y="4274820"/>
            <a:ext cx="6827520" cy="4343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01312" y="4320540"/>
            <a:ext cx="66812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chiffrement côté hôte pour VM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914400" y="4709160"/>
            <a:ext cx="3413760" cy="4343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7552" y="4754880"/>
            <a:ext cx="3267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Move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4328160" y="4709160"/>
            <a:ext cx="6827520" cy="4343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01312" y="4754880"/>
            <a:ext cx="66812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possible vers RG/subscription/région selon contraintes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914400" y="5143500"/>
            <a:ext cx="3413760" cy="4343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7552" y="5189220"/>
            <a:ext cx="3267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Availability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4328160" y="5143500"/>
            <a:ext cx="6827520" cy="4343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01312" y="5189220"/>
            <a:ext cx="66812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zones ou sets selon besoin de résilience</a:t>
            </a:r>
            <a:endParaRPr lang="en-US" sz="7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Disponibilité : set, zone, VMSS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23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5B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8CFF"/>
                </a:solidFill>
              </a:rPr>
              <a:t>HA / Scale • ne pas confondre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31520" y="1371600"/>
            <a:ext cx="2526030" cy="576072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417320"/>
            <a:ext cx="237972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Concept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57550" y="1371600"/>
            <a:ext cx="4903470" cy="576072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0702" y="1417320"/>
            <a:ext cx="475716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Rôle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61020" y="1371600"/>
            <a:ext cx="3268980" cy="576072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4172" y="1417320"/>
            <a:ext cx="31226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Mémo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1947672"/>
            <a:ext cx="2526030" cy="576072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1993392"/>
            <a:ext cx="237972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Availability set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3257550" y="1947672"/>
            <a:ext cx="4903470" cy="576072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0702" y="1993392"/>
            <a:ext cx="475716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séparation logique fault/update domains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8161020" y="1947672"/>
            <a:ext cx="3268980" cy="576072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4172" y="1993392"/>
            <a:ext cx="31226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anti-panne matérielle planifiée/non planifiée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31520" y="2523744"/>
            <a:ext cx="2526030" cy="576072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569464"/>
            <a:ext cx="237972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Availability zone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3257550" y="2523744"/>
            <a:ext cx="4903470" cy="576072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0702" y="2569464"/>
            <a:ext cx="475716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datacenters physiquement séparés dans une région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8161020" y="2523744"/>
            <a:ext cx="3268980" cy="576072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4172" y="2569464"/>
            <a:ext cx="31226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résilience plus forte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31520" y="3099816"/>
            <a:ext cx="2526030" cy="576072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145536"/>
            <a:ext cx="237972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VMSS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3257550" y="3099816"/>
            <a:ext cx="4903470" cy="576072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0702" y="3145536"/>
            <a:ext cx="475716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déployer/scaler plusieurs VM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8161020" y="3099816"/>
            <a:ext cx="3268980" cy="576072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34172" y="3145536"/>
            <a:ext cx="31226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plus de capacité, homogénéité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31520" y="3675888"/>
            <a:ext cx="2526030" cy="576072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3721608"/>
            <a:ext cx="237972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Load balancer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3257550" y="3675888"/>
            <a:ext cx="4903470" cy="576072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0702" y="3721608"/>
            <a:ext cx="475716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répartir le trafic vers les instances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8161020" y="3675888"/>
            <a:ext cx="3268980" cy="576072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34172" y="3721608"/>
            <a:ext cx="31226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frontend + backend + health probe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777240" y="4709160"/>
            <a:ext cx="10607040" cy="731520"/>
          </a:xfrm>
          <a:prstGeom prst="roundRect">
            <a:avLst>
              <a:gd name="adj" fmla="val 7500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" y="4709160"/>
            <a:ext cx="64008" cy="73152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8408" y="4873752"/>
            <a:ext cx="10259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Mémo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78408" y="5239512"/>
            <a:ext cx="10259568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8CD"/>
                </a:solidFill>
              </a:rPr>
              <a:t>Set = séparation logique. Zone = séparation physique. VMSS = groupe scalable. Load Balancer = distribution de trafic.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Service : application web sans gérer l’OS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24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5B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8CFF"/>
                </a:solidFill>
              </a:rPr>
              <a:t>PaaS • Plan + App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App Service Plan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capacité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773936"/>
            <a:ext cx="9753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185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4DD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25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App 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web/API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93080" y="1773936"/>
            <a:ext cx="9753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141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81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Slots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staging/prod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88680" y="1773936"/>
            <a:ext cx="9753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097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37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Scale / TLS / Backup / Network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3017520"/>
            <a:ext cx="3383280" cy="40386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063240"/>
            <a:ext cx="3236976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Sujet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97680" y="3017520"/>
            <a:ext cx="6766560" cy="40386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0832" y="3063240"/>
            <a:ext cx="6620256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Déclencheur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" y="3421380"/>
            <a:ext cx="3383280" cy="4038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3467100"/>
            <a:ext cx="3236976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App Service plan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4297680" y="3421380"/>
            <a:ext cx="6766560" cy="4038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3467100"/>
            <a:ext cx="6620256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choix SKU, coût, capacité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914400" y="3825240"/>
            <a:ext cx="3383280" cy="4038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3870960"/>
            <a:ext cx="3236976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Deployment slots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4297680" y="3825240"/>
            <a:ext cx="6766560" cy="4038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870960"/>
            <a:ext cx="6620256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tester staging puis swap vers prod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914400" y="4229100"/>
            <a:ext cx="3383280" cy="4038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274820"/>
            <a:ext cx="3236976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Custom domain/TLS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4297680" y="4229100"/>
            <a:ext cx="6766560" cy="4038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70832" y="4274820"/>
            <a:ext cx="6620256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nom DNS + certificat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914400" y="4632960"/>
            <a:ext cx="3383280" cy="4038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" y="4678680"/>
            <a:ext cx="3236976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Backup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4297680" y="4632960"/>
            <a:ext cx="6766560" cy="4038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70832" y="4678680"/>
            <a:ext cx="6620256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restaurer application/contenu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914400" y="5036820"/>
            <a:ext cx="3383280" cy="4038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" y="5082540"/>
            <a:ext cx="3236976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Networking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4297680" y="5036820"/>
            <a:ext cx="6766560" cy="4038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70832" y="5082540"/>
            <a:ext cx="6620256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accès VNet, restriction accès, private endpoint selon cas</a:t>
            </a:r>
            <a:endParaRPr lang="en-US" sz="7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Containers : ACR, ACI, Container Apps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25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5B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8CFF"/>
                </a:solidFill>
              </a:rPr>
              <a:t>Containers • simple à scorer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508760"/>
            <a:ext cx="2240924" cy="576072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554480"/>
            <a:ext cx="20946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Service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18164" y="1508760"/>
            <a:ext cx="3884268" cy="576072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1316" y="1554480"/>
            <a:ext cx="37379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Rôle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02432" y="1508760"/>
            <a:ext cx="4481848" cy="576072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5584" y="1554480"/>
            <a:ext cx="4335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Déclencheur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2084832"/>
            <a:ext cx="2240924" cy="576072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130552"/>
            <a:ext cx="20946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ACR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3018164" y="2084832"/>
            <a:ext cx="3884268" cy="576072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1316" y="2130552"/>
            <a:ext cx="37379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registre d’images container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6902432" y="2084832"/>
            <a:ext cx="4481848" cy="576072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5584" y="2130552"/>
            <a:ext cx="4335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stocker/pousser/tirer une image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660904"/>
            <a:ext cx="2240924" cy="576072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706624"/>
            <a:ext cx="20946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ACI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3018164" y="2660904"/>
            <a:ext cx="3884268" cy="576072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1316" y="2706624"/>
            <a:ext cx="37379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exécuter rapidement un container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6902432" y="2660904"/>
            <a:ext cx="4481848" cy="576072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5584" y="2706624"/>
            <a:ext cx="4335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pas d’orchestration lourde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77240" y="3236976"/>
            <a:ext cx="2240924" cy="576072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282696"/>
            <a:ext cx="20946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Container Apps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3018164" y="3236976"/>
            <a:ext cx="3884268" cy="576072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91316" y="3282696"/>
            <a:ext cx="37379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héberger app/microservice containerisé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6902432" y="3236976"/>
            <a:ext cx="4481848" cy="576072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75584" y="3282696"/>
            <a:ext cx="4335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scaling, ingress, environnement managé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77240" y="3813048"/>
            <a:ext cx="2240924" cy="576072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3858768"/>
            <a:ext cx="20946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Sizing/scaling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3018164" y="3813048"/>
            <a:ext cx="3884268" cy="576072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91316" y="3858768"/>
            <a:ext cx="37379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CPU/mémoire/réplicas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6902432" y="3813048"/>
            <a:ext cx="4481848" cy="576072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75584" y="3858768"/>
            <a:ext cx="4335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ajuster ressources et coût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1005840" y="4800600"/>
            <a:ext cx="4663440" cy="731520"/>
          </a:xfrm>
          <a:prstGeom prst="roundRect">
            <a:avLst>
              <a:gd name="adj" fmla="val 6250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33856" y="4919472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7A"/>
                </a:solidFill>
              </a:rPr>
              <a:t>Piège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33856" y="5184648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ACR ne lance pas les containers : il stocke les images.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6446520" y="4800600"/>
            <a:ext cx="4663440" cy="731520"/>
          </a:xfrm>
          <a:prstGeom prst="roundRect">
            <a:avLst>
              <a:gd name="adj" fmla="val 6250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74536" y="4919472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6B"/>
                </a:solidFill>
              </a:rPr>
              <a:t>Piège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74536" y="5184648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ACI est simple et rapide ; Container Apps est plus adapté aux apps managées et scalables.</a:t>
            </a:r>
            <a:endParaRPr lang="en-US" sz="8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Déclencheurs compute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5B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8CFF"/>
                </a:solidFill>
              </a:rPr>
              <a:t>QCM • réflexes rapides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234440"/>
            <a:ext cx="3535680" cy="554355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280160"/>
            <a:ext cx="338937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Si tu lis...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12920" y="1234440"/>
            <a:ext cx="3189045" cy="554355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6072" y="1280160"/>
            <a:ext cx="304274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Pense à...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01965" y="1234440"/>
            <a:ext cx="3882315" cy="554355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75117" y="1280160"/>
            <a:ext cx="373601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Pourquoi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1788795"/>
            <a:ext cx="3535680" cy="55435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1834515"/>
            <a:ext cx="338937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déploiement reproductible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4312920" y="1788795"/>
            <a:ext cx="3189045" cy="55435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6072" y="1834515"/>
            <a:ext cx="304274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ARM/Bicep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7501965" y="1788795"/>
            <a:ext cx="3882315" cy="55435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5117" y="1834515"/>
            <a:ext cx="373601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infrastructure déclarative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343150"/>
            <a:ext cx="3535680" cy="55435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388870"/>
            <a:ext cx="338937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OS complet / logiciel legacy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4312920" y="2343150"/>
            <a:ext cx="3189045" cy="55435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6072" y="2388870"/>
            <a:ext cx="304274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VM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501965" y="2343150"/>
            <a:ext cx="3882315" cy="55435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5117" y="2388870"/>
            <a:ext cx="373601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contrôle IaaS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77240" y="2897505"/>
            <a:ext cx="3535680" cy="55435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2943225"/>
            <a:ext cx="338937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plusieurs VM identiques à scaler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4312920" y="2897505"/>
            <a:ext cx="3189045" cy="55435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6072" y="2943225"/>
            <a:ext cx="304274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VMSS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7501965" y="2897505"/>
            <a:ext cx="3882315" cy="55435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5117" y="2943225"/>
            <a:ext cx="373601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fleet + autoscale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77240" y="3451860"/>
            <a:ext cx="3535680" cy="55435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3497580"/>
            <a:ext cx="338937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web app sans OS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4312920" y="3451860"/>
            <a:ext cx="3189045" cy="55435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6072" y="3497580"/>
            <a:ext cx="304274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App Service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501965" y="3451860"/>
            <a:ext cx="3882315" cy="55435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5117" y="3497580"/>
            <a:ext cx="373601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PaaS web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777240" y="4006215"/>
            <a:ext cx="3535680" cy="55435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" y="4051935"/>
            <a:ext cx="338937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blue/green ou préprod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4312920" y="4006215"/>
            <a:ext cx="3189045" cy="55435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6072" y="4051935"/>
            <a:ext cx="304274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deployment slot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7501965" y="4006215"/>
            <a:ext cx="3882315" cy="55435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75117" y="4051935"/>
            <a:ext cx="373601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swap staging/prod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777240" y="4560570"/>
            <a:ext cx="3535680" cy="55435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" y="4606290"/>
            <a:ext cx="338937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image container privée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4312920" y="4560570"/>
            <a:ext cx="3189045" cy="55435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6072" y="4606290"/>
            <a:ext cx="304274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ACR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7501965" y="4560570"/>
            <a:ext cx="3882315" cy="55435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5117" y="4606290"/>
            <a:ext cx="373601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registre d’images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777240" y="5114925"/>
            <a:ext cx="3535680" cy="55435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0392" y="5160645"/>
            <a:ext cx="338937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container ponctuel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4312920" y="5114925"/>
            <a:ext cx="3189045" cy="55435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6072" y="5160645"/>
            <a:ext cx="304274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ACI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7501965" y="5114925"/>
            <a:ext cx="3882315" cy="55435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75117" y="5160645"/>
            <a:ext cx="3736011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instance rapide</a:t>
            </a:r>
            <a:endParaRPr lang="en-US" sz="7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E7B7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31520"/>
            <a:ext cx="118872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</a:rPr>
              <a:t>04 — Réseau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96112" y="290779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8CD"/>
                </a:solidFill>
              </a:rPr>
              <a:t>Connecter, filtrer, router, résoudre.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915400" y="228600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101F3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0" y="25328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AZ-104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0" y="28346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B8CD"/>
                </a:solidFill>
              </a:rPr>
              <a:t>référence rapide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27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VNet : ton réseau privé Azure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28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E7B7"/>
                </a:solidFill>
              </a:rPr>
              <a:t>15-20% • Networking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3200400" cy="1005840"/>
          </a:xfrm>
          <a:prstGeom prst="roundRect">
            <a:avLst>
              <a:gd name="adj" fmla="val 5455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417320"/>
            <a:ext cx="64008" cy="100584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158191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VNet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8408" y="1947672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8CD"/>
                </a:solidFill>
              </a:rPr>
              <a:t>Espace d’adressage privé. Exemple : 10.0.0.0/16.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1417320"/>
            <a:ext cx="3200400" cy="1005840"/>
          </a:xfrm>
          <a:prstGeom prst="roundRect">
            <a:avLst>
              <a:gd name="adj" fmla="val 5455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1417320"/>
            <a:ext cx="64008" cy="100584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58191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Subnet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1728" y="1947672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8CD"/>
                </a:solidFill>
              </a:rPr>
              <a:t>Découpe logique de la VNet. Les ressources y reçoivent des IP privées.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83880" y="1417320"/>
            <a:ext cx="3200400" cy="1005840"/>
          </a:xfrm>
          <a:prstGeom prst="roundRect">
            <a:avLst>
              <a:gd name="adj" fmla="val 5455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417320"/>
            <a:ext cx="64008" cy="1005840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5048" y="158191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Public 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85048" y="1947672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8CD"/>
                </a:solidFill>
              </a:rPr>
              <a:t>Exposition vers Internet ou frontend public.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297180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31546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Internet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97480" y="332841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560320" y="297180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24328" y="31546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Public IP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34840" y="332841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97680" y="297180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61688" y="31546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Load Balancer / VM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332841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035040" y="297180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4DD6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9048" y="31546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NIC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09560" y="332841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772400" y="297180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36408" y="31546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Subnet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46920" y="332841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509760" y="297180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73768" y="31546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VNet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8680" y="49834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Toujours commencer une question réseau par : source → destination → port → chemin → DNS.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NSG &amp; ASG : filtrer le trafic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29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E7B7"/>
                </a:solidFill>
              </a:rPr>
              <a:t>Security rules • NSG + ASG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325880"/>
            <a:ext cx="2204060" cy="5486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371600"/>
            <a:ext cx="2057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Objet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81300" y="1325880"/>
            <a:ext cx="4821382" cy="5486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54452" y="1371600"/>
            <a:ext cx="4675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Rôle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802682" y="1325880"/>
            <a:ext cx="3581598" cy="5486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75834" y="1371600"/>
            <a:ext cx="3435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À retenir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1874520"/>
            <a:ext cx="2204060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1920240"/>
            <a:ext cx="2057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NSG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2981300" y="1874520"/>
            <a:ext cx="4821382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54452" y="1920240"/>
            <a:ext cx="4675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règles allow/deny source/destination/port/protocole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7802682" y="1874520"/>
            <a:ext cx="3581598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75834" y="1920240"/>
            <a:ext cx="3435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filtre trafic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423160"/>
            <a:ext cx="2204060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468880"/>
            <a:ext cx="2057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Priority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2981300" y="2423160"/>
            <a:ext cx="4821382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452" y="2468880"/>
            <a:ext cx="4675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ordre d’évaluation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802682" y="2423160"/>
            <a:ext cx="3581598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5834" y="2468880"/>
            <a:ext cx="3435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plus petit numéro = priorité plus haute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77240" y="2971800"/>
            <a:ext cx="2204060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017520"/>
            <a:ext cx="2057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Effective rules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2981300" y="2971800"/>
            <a:ext cx="4821382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54452" y="3017520"/>
            <a:ext cx="4675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vue des règles réellement appliquées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7802682" y="2971800"/>
            <a:ext cx="3581598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75834" y="3017520"/>
            <a:ext cx="3435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utile dépannage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77240" y="3520440"/>
            <a:ext cx="2204060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3566160"/>
            <a:ext cx="2057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ASG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2981300" y="3520440"/>
            <a:ext cx="4821382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54452" y="3566160"/>
            <a:ext cx="4675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groupe logique de NIC/VM pour les règles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802682" y="3520440"/>
            <a:ext cx="3581598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75834" y="3566160"/>
            <a:ext cx="3435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évite de gérer IP à la main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822960" y="4572000"/>
            <a:ext cx="10561320" cy="731520"/>
          </a:xfrm>
          <a:prstGeom prst="roundRect">
            <a:avLst>
              <a:gd name="adj" fmla="val 7500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" y="4572000"/>
            <a:ext cx="64008" cy="73152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4128" y="4736592"/>
            <a:ext cx="10213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Mémo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24128" y="5102352"/>
            <a:ext cx="10213848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8CD"/>
                </a:solidFill>
              </a:rPr>
              <a:t>NSG = autorisation/refus. ASG = cible logique dans les règles NSG. Route table = chemin, pas sécurité.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Routes &amp; peering : le chemin du trafic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30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E7B7"/>
                </a:solidFill>
              </a:rPr>
              <a:t>UDR / peering • connectivité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31520" y="1325880"/>
            <a:ext cx="2252312" cy="5715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371600"/>
            <a:ext cx="210600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Concept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83832" y="1325880"/>
            <a:ext cx="4223084" cy="5715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56984" y="1371600"/>
            <a:ext cx="40767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Question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206916" y="1325880"/>
            <a:ext cx="4223084" cy="5715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0068" y="1371600"/>
            <a:ext cx="40767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Mémo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1897380"/>
            <a:ext cx="2252312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1943100"/>
            <a:ext cx="210600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System route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2983832" y="1897380"/>
            <a:ext cx="4223084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56984" y="1943100"/>
            <a:ext cx="40767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par défaut Azure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7206916" y="1897380"/>
            <a:ext cx="4223084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80068" y="1943100"/>
            <a:ext cx="40767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fonctionne sans configuration avancée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31520" y="2468880"/>
            <a:ext cx="2252312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514600"/>
            <a:ext cx="210600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UDR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2983832" y="2468880"/>
            <a:ext cx="4223084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6984" y="2514600"/>
            <a:ext cx="40767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forcer next hop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206916" y="2468880"/>
            <a:ext cx="4223084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80068" y="2514600"/>
            <a:ext cx="40767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appliance, firewall, NVA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31520" y="3040380"/>
            <a:ext cx="2252312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086100"/>
            <a:ext cx="210600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Peering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2983832" y="3040380"/>
            <a:ext cx="4223084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56984" y="3086100"/>
            <a:ext cx="40767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connecter deux VNets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7206916" y="3040380"/>
            <a:ext cx="4223084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80068" y="3086100"/>
            <a:ext cx="40767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faible latence, privé Microsoft backbone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31520" y="3611880"/>
            <a:ext cx="2252312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3657600"/>
            <a:ext cx="210600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Transitivité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2983832" y="3611880"/>
            <a:ext cx="4223084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56984" y="3657600"/>
            <a:ext cx="40767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A-B et B-C ne donnent pas A-C automatiquement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206916" y="3611880"/>
            <a:ext cx="4223084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80068" y="3657600"/>
            <a:ext cx="40767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peering non transitif par défaut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731520" y="4183380"/>
            <a:ext cx="2252312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4229100"/>
            <a:ext cx="210600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Troubleshooting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2983832" y="4183380"/>
            <a:ext cx="4223084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56984" y="4229100"/>
            <a:ext cx="40767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source/destination/NSG/route/DNS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7206916" y="4183380"/>
            <a:ext cx="4223084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80068" y="4229100"/>
            <a:ext cx="40767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toujours isoler la couche</a:t>
            </a:r>
            <a:endParaRPr lang="en-US" sz="7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Bastion, Service Endpoint, Private Endpoint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31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E7B7"/>
                </a:solidFill>
              </a:rPr>
              <a:t>Accès sécurisé • PaaS &amp; VM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2282528" cy="5486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463040"/>
            <a:ext cx="2136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Service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59768" y="1417320"/>
            <a:ext cx="4027990" cy="5486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2920" y="1463040"/>
            <a:ext cx="3881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But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087757" y="1417320"/>
            <a:ext cx="4296523" cy="5486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60909" y="1463040"/>
            <a:ext cx="41502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Différence clé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1965960"/>
            <a:ext cx="2282528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011680"/>
            <a:ext cx="2136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Azure Bastion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3059768" y="1965960"/>
            <a:ext cx="4027990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2920" y="2011680"/>
            <a:ext cx="3881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RDP/SSH via navigateur sans IP publique VM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7087757" y="1965960"/>
            <a:ext cx="4296523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0909" y="2011680"/>
            <a:ext cx="41502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protège l’administration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514600"/>
            <a:ext cx="2282528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560320"/>
            <a:ext cx="2136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Service Endpoint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3059768" y="2514600"/>
            <a:ext cx="4027990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32920" y="2560320"/>
            <a:ext cx="3881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sécurise accès à un PaaS depuis subnet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087757" y="2514600"/>
            <a:ext cx="4296523" cy="5486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60909" y="2560320"/>
            <a:ext cx="41502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service garde une adresse publique routable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77240" y="3063240"/>
            <a:ext cx="2282528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108960"/>
            <a:ext cx="2136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Private Endpoint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3059768" y="3063240"/>
            <a:ext cx="4027990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32920" y="3108960"/>
            <a:ext cx="3881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expose un PaaS via IP privée dans la VNet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7087757" y="3063240"/>
            <a:ext cx="4296523" cy="5486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60909" y="3108960"/>
            <a:ext cx="41502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Private Link + DNS privé souvent nécessaire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22960" y="4160520"/>
            <a:ext cx="10561320" cy="731520"/>
          </a:xfrm>
          <a:prstGeom prst="roundRect">
            <a:avLst>
              <a:gd name="adj" fmla="val 7500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4160520"/>
            <a:ext cx="64008" cy="73152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4325112"/>
            <a:ext cx="10213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Déclencheur examen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4128" y="4690872"/>
            <a:ext cx="10213848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8CD"/>
                </a:solidFill>
              </a:rPr>
              <a:t>“Le service PaaS doit être accessible via une adresse IP privée dans la VNet” → Private Endpoint + Private DNS.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DNS : la cause invisible de beaucoup de pannes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32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E7B7"/>
                </a:solidFill>
              </a:rPr>
              <a:t>Name resolution • Azure DNS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417320"/>
            <a:ext cx="3200400" cy="960120"/>
          </a:xfrm>
          <a:prstGeom prst="roundRect">
            <a:avLst>
              <a:gd name="adj" fmla="val 4762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53619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6B"/>
                </a:solidFill>
              </a:rPr>
              <a:t>Azure DNS public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50976" y="180136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Héberge une zone DNS publique.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480560" y="1417320"/>
            <a:ext cx="3200400" cy="960120"/>
          </a:xfrm>
          <a:prstGeom prst="roundRect">
            <a:avLst>
              <a:gd name="adj" fmla="val 4762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53619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Private DNS zone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08576" y="180136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Résolution privée dans une ou plusieurs VNets.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200400" cy="960120"/>
          </a:xfrm>
          <a:prstGeom prst="roundRect">
            <a:avLst>
              <a:gd name="adj" fmla="val 4762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153619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DD6D6"/>
                </a:solidFill>
              </a:rPr>
              <a:t>Private Endpoint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66176" y="180136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Nécessite souvent un enregistrement privé correct.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914400" y="3017520"/>
            <a:ext cx="4440555" cy="52578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063240"/>
            <a:ext cx="429425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Symptôme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54955" y="3017520"/>
            <a:ext cx="5709285" cy="52578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28107" y="3063240"/>
            <a:ext cx="556298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Piste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14400" y="3543300"/>
            <a:ext cx="4440555" cy="5257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589020"/>
            <a:ext cx="429425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IP privée correcte mais nom résout en IP publique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5354955" y="3543300"/>
            <a:ext cx="5709285" cy="5257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8107" y="3589020"/>
            <a:ext cx="556298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Private DNS manquant ou non lié à la VNet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914400" y="4069080"/>
            <a:ext cx="4440555" cy="52578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4114800"/>
            <a:ext cx="429425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VM ne résout pas un nom interne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5354955" y="4069080"/>
            <a:ext cx="5709285" cy="52578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28107" y="4114800"/>
            <a:ext cx="556298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zone DNS/lien VNet/serveur DNS personnalisé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914400" y="4594860"/>
            <a:ext cx="4440555" cy="5257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4640580"/>
            <a:ext cx="429425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App accède à mauvais endpoint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5354955" y="4594860"/>
            <a:ext cx="5709285" cy="5257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28107" y="4640580"/>
            <a:ext cx="556298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résolution nom + route + firewall</a:t>
            </a:r>
            <a:endParaRPr lang="en-US" sz="7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Load Balancer : frontend, backend, probe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33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E7B7"/>
                </a:solidFill>
              </a:rPr>
              <a:t>Load Balancing • public/interne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Client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77393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032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432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Frontend IP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177393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9768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Rule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77393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4DD6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Backend Pool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09560" y="177393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7240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3640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Health Probe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46920" y="177393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097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37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VMs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3017520"/>
            <a:ext cx="3205213" cy="41148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3063240"/>
            <a:ext cx="30589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Élément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9613" y="3017520"/>
            <a:ext cx="6944627" cy="41148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92765" y="3063240"/>
            <a:ext cx="67983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Rôle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14400" y="3429000"/>
            <a:ext cx="3205213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3474720"/>
            <a:ext cx="30589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Frontend IP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4119613" y="3429000"/>
            <a:ext cx="6944627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92765" y="3474720"/>
            <a:ext cx="67983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adresse exposée côté client ou interne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914400" y="3840480"/>
            <a:ext cx="3205213" cy="41148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3886200"/>
            <a:ext cx="30589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Backend pool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4119613" y="3840480"/>
            <a:ext cx="6944627" cy="41148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92765" y="3886200"/>
            <a:ext cx="67983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instances qui reçoivent le trafic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914400" y="4251960"/>
            <a:ext cx="3205213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7552" y="4297680"/>
            <a:ext cx="30589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Load-balancing rule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4119613" y="4251960"/>
            <a:ext cx="6944627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92765" y="4297680"/>
            <a:ext cx="67983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port/protocole et mapping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914400" y="4663440"/>
            <a:ext cx="3205213" cy="41148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7552" y="4709160"/>
            <a:ext cx="30589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Health probe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4119613" y="4663440"/>
            <a:ext cx="6944627" cy="41148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92765" y="4709160"/>
            <a:ext cx="67983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détermine si une instance est saine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914400" y="5074920"/>
            <a:ext cx="3205213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7552" y="5120640"/>
            <a:ext cx="30589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Troubleshooting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4119613" y="5074920"/>
            <a:ext cx="6944627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92765" y="5120640"/>
            <a:ext cx="67983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vérifier probe, NSG, route, app qui écoute</a:t>
            </a:r>
            <a:endParaRPr lang="en-US" sz="7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Hybride : VPN vs ExpressRoute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34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E7B7"/>
                </a:solidFill>
              </a:rPr>
              <a:t>Hybrid • S2S / ER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2199020" cy="59436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463040"/>
            <a:ext cx="2052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Option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76260" y="1417320"/>
            <a:ext cx="4398041" cy="59436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9412" y="1463040"/>
            <a:ext cx="42517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Principe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74301" y="1417320"/>
            <a:ext cx="4009979" cy="59436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47453" y="1463040"/>
            <a:ext cx="38636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Quand choisir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2011680"/>
            <a:ext cx="2199020" cy="5943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057400"/>
            <a:ext cx="2052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VPN S2S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2976260" y="2011680"/>
            <a:ext cx="4398041" cy="5943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9412" y="2057400"/>
            <a:ext cx="42517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tunnel chiffré via Internet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7374301" y="2011680"/>
            <a:ext cx="4009979" cy="5943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47453" y="2057400"/>
            <a:ext cx="38636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rapide, coût modéré, connectivité site-à-site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606040"/>
            <a:ext cx="2199020" cy="5943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651760"/>
            <a:ext cx="2052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Point-to-site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2976260" y="2606040"/>
            <a:ext cx="4398041" cy="5943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49412" y="2651760"/>
            <a:ext cx="42517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client individuel vers Azure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374301" y="2606040"/>
            <a:ext cx="4009979" cy="5943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7453" y="2651760"/>
            <a:ext cx="38636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admin/télétravail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77240" y="3200400"/>
            <a:ext cx="2199020" cy="5943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246120"/>
            <a:ext cx="2052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ExpressRoute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2976260" y="3200400"/>
            <a:ext cx="4398041" cy="5943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49412" y="3246120"/>
            <a:ext cx="42517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connectivité privée dédiée via provider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7374301" y="3200400"/>
            <a:ext cx="4009979" cy="5943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7453" y="3246120"/>
            <a:ext cx="38636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performance, SLA, trafic hors Internet public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1097280" y="4251960"/>
            <a:ext cx="9966960" cy="822960"/>
          </a:xfrm>
          <a:prstGeom prst="roundRect">
            <a:avLst>
              <a:gd name="adj" fmla="val 5556"/>
            </a:avLst>
          </a:prstGeom>
          <a:solidFill>
            <a:srgbClr val="101F35"/>
          </a:solidFill>
          <a:ln w="825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25296" y="4370832"/>
            <a:ext cx="9710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7A"/>
                </a:solidFill>
              </a:rPr>
              <a:t>Piège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225296" y="4636008"/>
            <a:ext cx="9710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9B8CD"/>
                </a:solidFill>
              </a:rPr>
              <a:t>ExpressRoute n’est pas “un VPN plus gros”. Le chemin réseau et l’usage sont différents.</a:t>
            </a:r>
            <a:endParaRPr lang="en-US" sz="8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Playbook dépannage réseau AZ-104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35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E7B7"/>
                </a:solidFill>
              </a:rPr>
              <a:t>Troubleshooting • ordre recommandé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4D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1 Source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77393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032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432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2 DNS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177393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9768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3 NSG/ASG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77393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4 Route/UDR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09560" y="177393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7240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3640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5 Endpoint/LB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46920" y="177393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097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37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6 App/Probe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3017520"/>
            <a:ext cx="4140066" cy="41148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3063240"/>
            <a:ext cx="39937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Outil / vue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54466" y="3017520"/>
            <a:ext cx="6009774" cy="41148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7618" y="3063240"/>
            <a:ext cx="5863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But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14400" y="3429000"/>
            <a:ext cx="4140066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3474720"/>
            <a:ext cx="39937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Effective security rules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5054466" y="3429000"/>
            <a:ext cx="6009774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7618" y="3474720"/>
            <a:ext cx="5863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voir règles NSG réellement appliquées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914400" y="3840480"/>
            <a:ext cx="4140066" cy="41148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3886200"/>
            <a:ext cx="39937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Effective routes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5054466" y="3840480"/>
            <a:ext cx="6009774" cy="41148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7618" y="3886200"/>
            <a:ext cx="5863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voir le next hop réel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914400" y="4251960"/>
            <a:ext cx="4140066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7552" y="4297680"/>
            <a:ext cx="39937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Connection troubleshoot / Connection Monitor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5054466" y="4251960"/>
            <a:ext cx="6009774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7618" y="4297680"/>
            <a:ext cx="5863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tester connectivité bout-en-bout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914400" y="4663440"/>
            <a:ext cx="4140066" cy="41148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7552" y="4709160"/>
            <a:ext cx="39937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NSG flow logs / logs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5054466" y="4663440"/>
            <a:ext cx="6009774" cy="41148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7618" y="4709160"/>
            <a:ext cx="5863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analyser flux et refus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914400" y="5074920"/>
            <a:ext cx="4140066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7552" y="5120640"/>
            <a:ext cx="39937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Load balancer probe status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5054466" y="5074920"/>
            <a:ext cx="6009774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7618" y="5120640"/>
            <a:ext cx="58634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savoir pourquoi une instance sort du pool</a:t>
            </a:r>
            <a:endParaRPr lang="en-US" sz="74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D76E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31520"/>
            <a:ext cx="118872" cy="5394960"/>
          </a:xfrm>
          <a:prstGeom prst="rect">
            <a:avLst/>
          </a:prstGeom>
          <a:solidFill>
            <a:srgbClr val="F5D7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</a:rPr>
              <a:t>05 — Monitor &amp; Maintain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96112" y="290779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8CD"/>
                </a:solidFill>
              </a:rPr>
              <a:t>Observer, alerter, sauvegarder, basculer.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915400" y="228600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101F35"/>
          </a:solidFill>
          <a:ln w="15240">
            <a:solidFill>
              <a:srgbClr val="F5D7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0" y="25328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D76E"/>
                </a:solidFill>
              </a:rPr>
              <a:t>AZ-104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0" y="28346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B8CD"/>
                </a:solidFill>
              </a:rPr>
              <a:t>référence rapide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36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&amp; MAINTAIN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Monitor : métriques, logs, alertes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37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5D7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D76E"/>
                </a:solidFill>
              </a:rPr>
              <a:t>10-15% • Monitor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946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4DD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86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Metrics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691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Logs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380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20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Alerts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125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097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737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Action Groups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2971800"/>
            <a:ext cx="2380016" cy="4191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3017520"/>
            <a:ext cx="223371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Signal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2976" y="2971800"/>
            <a:ext cx="3570024" cy="4191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6128" y="3017520"/>
            <a:ext cx="342372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Question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772999" y="2971800"/>
            <a:ext cx="4611281" cy="4191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46151" y="3017520"/>
            <a:ext cx="4464977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Exemple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22960" y="3390900"/>
            <a:ext cx="2380016" cy="4191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3436620"/>
            <a:ext cx="223371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Metric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3202976" y="3390900"/>
            <a:ext cx="3570024" cy="4191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6128" y="3436620"/>
            <a:ext cx="342372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combien ?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6772999" y="3390900"/>
            <a:ext cx="4611281" cy="4191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6151" y="3436620"/>
            <a:ext cx="4464977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CPU, latency, requests, storage used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822960" y="3810000"/>
            <a:ext cx="2380016" cy="4191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3855720"/>
            <a:ext cx="223371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Log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3202976" y="3810000"/>
            <a:ext cx="3570024" cy="4191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6128" y="3855720"/>
            <a:ext cx="342372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que s’est-il passé ?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6772999" y="3810000"/>
            <a:ext cx="4611281" cy="4191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6151" y="3855720"/>
            <a:ext cx="4464977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events, audit, diagnostics, traces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822960" y="4229100"/>
            <a:ext cx="2380016" cy="4191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4274820"/>
            <a:ext cx="223371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Alert rule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3202976" y="4229100"/>
            <a:ext cx="3570024" cy="4191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76128" y="4274820"/>
            <a:ext cx="342372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quand notifier ?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6772999" y="4229100"/>
            <a:ext cx="4611281" cy="4191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46151" y="4274820"/>
            <a:ext cx="4464977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condition sur metric/log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822960" y="4648200"/>
            <a:ext cx="2380016" cy="4191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6112" y="4693920"/>
            <a:ext cx="223371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Action group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3202976" y="4648200"/>
            <a:ext cx="3570024" cy="4191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76128" y="4693920"/>
            <a:ext cx="342372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que faire ?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6772999" y="4648200"/>
            <a:ext cx="4611281" cy="4191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46151" y="4693920"/>
            <a:ext cx="4464977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mail, webhook, automation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822960" y="5067300"/>
            <a:ext cx="2380016" cy="4191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6112" y="5113020"/>
            <a:ext cx="223371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Alert processing rule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3202976" y="5067300"/>
            <a:ext cx="3570024" cy="4191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76128" y="5113020"/>
            <a:ext cx="342372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comment traiter/supprimer/diriger ?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6772999" y="5067300"/>
            <a:ext cx="4611281" cy="4191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46151" y="5113020"/>
            <a:ext cx="4464977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maintenance window, suppression</a:t>
            </a:r>
            <a:endParaRPr lang="en-US" sz="7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&amp; MAINTAIN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Logs &amp; KQL : lire les événements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38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5D7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D76E"/>
                </a:solidFill>
              </a:rPr>
              <a:t>Log Analytics • KQL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417320"/>
            <a:ext cx="64008" cy="10972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58191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Mémo rapide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1947672"/>
            <a:ext cx="331012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8CD"/>
                </a:solidFill>
              </a:rPr>
              <a:t>Metric = valeur numérique dans le temps.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8CD"/>
                </a:solidFill>
              </a:rPr>
              <a:t>Log = événement détaillé à requêter.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6583680" cy="1737360"/>
          </a:xfrm>
          <a:prstGeom prst="roundRect">
            <a:avLst>
              <a:gd name="adj" fmla="val 3158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417320"/>
            <a:ext cx="64008" cy="1737360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1768" y="1581912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Structure KQL fréquente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01768" y="1947672"/>
            <a:ext cx="623620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8CD"/>
                </a:solidFill>
              </a:rPr>
              <a:t>Table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9B8CD"/>
                </a:solidFill>
              </a:rPr>
              <a:t>| where TimeGenerated &gt; ago(1h)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9B8CD"/>
                </a:solidFill>
              </a:rPr>
              <a:t>| summarize count() by bin(TimeGenerated, 5m)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9B8CD"/>
                </a:solidFill>
              </a:rPr>
              <a:t>| order by TimeGenerated desc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234440" y="3703320"/>
            <a:ext cx="2682732" cy="3200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7592" y="3749040"/>
            <a:ext cx="2536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Opérateur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17172" y="3703320"/>
            <a:ext cx="7101348" cy="3200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90324" y="3749040"/>
            <a:ext cx="69550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But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234440" y="4023360"/>
            <a:ext cx="2682732" cy="3200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7592" y="4069080"/>
            <a:ext cx="2536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where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3917172" y="4023360"/>
            <a:ext cx="7101348" cy="3200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90324" y="4069080"/>
            <a:ext cx="69550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filtrer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1234440" y="4343400"/>
            <a:ext cx="2682732" cy="3200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07592" y="4389120"/>
            <a:ext cx="2536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project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917172" y="4343400"/>
            <a:ext cx="7101348" cy="3200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90324" y="4389120"/>
            <a:ext cx="69550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choisir les colonnes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1234440" y="4663440"/>
            <a:ext cx="2682732" cy="3200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07592" y="4709160"/>
            <a:ext cx="2536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summarize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3917172" y="4663440"/>
            <a:ext cx="7101348" cy="3200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90324" y="4709160"/>
            <a:ext cx="69550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agréger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1234440" y="4983480"/>
            <a:ext cx="2682732" cy="3200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07592" y="5029200"/>
            <a:ext cx="2536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order by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3917172" y="4983480"/>
            <a:ext cx="7101348" cy="3200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90324" y="5029200"/>
            <a:ext cx="69550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trier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1234440" y="5303520"/>
            <a:ext cx="2682732" cy="3200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07592" y="5349240"/>
            <a:ext cx="2536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join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3917172" y="5303520"/>
            <a:ext cx="7101348" cy="3200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90324" y="5349240"/>
            <a:ext cx="69550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corréler</a:t>
            </a:r>
            <a:endParaRPr lang="en-US" sz="74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&amp; MAINTAIN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Insights &amp; Network Watcher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39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5D7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D76E"/>
                </a:solidFill>
              </a:rPr>
              <a:t>Observabilité • VM / Storage / Network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325880"/>
            <a:ext cx="2545690" cy="5867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371600"/>
            <a:ext cx="239938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Fonction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22930" y="1325880"/>
            <a:ext cx="4242816" cy="5867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6082" y="1371600"/>
            <a:ext cx="40965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But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65746" y="1325880"/>
            <a:ext cx="3818534" cy="5867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8898" y="1371600"/>
            <a:ext cx="36722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Déclencheur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1912620"/>
            <a:ext cx="2545690" cy="5867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1958340"/>
            <a:ext cx="239938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VM Insights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3322930" y="1912620"/>
            <a:ext cx="4242816" cy="5867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6082" y="1958340"/>
            <a:ext cx="40965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performance/process/dependencies VM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7565746" y="1912620"/>
            <a:ext cx="3818534" cy="5867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8898" y="1958340"/>
            <a:ext cx="36722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problème performance VM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499360"/>
            <a:ext cx="2545690" cy="5867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545080"/>
            <a:ext cx="239938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Storage insights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3322930" y="2499360"/>
            <a:ext cx="4242816" cy="5867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96082" y="2545080"/>
            <a:ext cx="40965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latence, transactions, capacité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565746" y="2499360"/>
            <a:ext cx="3818534" cy="5867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8898" y="2545080"/>
            <a:ext cx="36722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stockage lent/coûteux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77240" y="3086100"/>
            <a:ext cx="2545690" cy="5867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131820"/>
            <a:ext cx="239938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Network insights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3322930" y="3086100"/>
            <a:ext cx="4242816" cy="5867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6082" y="3131820"/>
            <a:ext cx="40965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vue réseau et santé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7565746" y="3086100"/>
            <a:ext cx="3818534" cy="5867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8898" y="3131820"/>
            <a:ext cx="36722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diagnostic réseau global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77240" y="3672840"/>
            <a:ext cx="2545690" cy="5867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3718560"/>
            <a:ext cx="239938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Network Watcher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3322930" y="3672840"/>
            <a:ext cx="4242816" cy="5867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96082" y="3718560"/>
            <a:ext cx="40965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outils de diagnostic réseau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565746" y="3672840"/>
            <a:ext cx="3818534" cy="5867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8898" y="3718560"/>
            <a:ext cx="36722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effective routes, packet capture, flow logs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777240" y="4259580"/>
            <a:ext cx="2545690" cy="5867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" y="4305300"/>
            <a:ext cx="239938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Connection Monitor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3322930" y="4259580"/>
            <a:ext cx="4242816" cy="5867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96082" y="4305300"/>
            <a:ext cx="40965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surveillance connexion source/destination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7565746" y="4259580"/>
            <a:ext cx="3818534" cy="5867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38898" y="4305300"/>
            <a:ext cx="36722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connectivité intermittente</a:t>
            </a:r>
            <a:endParaRPr lang="en-US" sz="7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&amp; MAINTAIN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Backup : restaurer des données/workloads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40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5D7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D76E"/>
                </a:solidFill>
              </a:rPr>
              <a:t>Backup • Vault + policy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5D7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Vault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946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86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Backup Policy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691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4DD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Protected Item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380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20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Recovery Point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12580" y="177393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097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737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Restore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3063240"/>
            <a:ext cx="3518611" cy="40386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108960"/>
            <a:ext cx="3372307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Élément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33011" y="3063240"/>
            <a:ext cx="6631229" cy="40386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6163" y="3108960"/>
            <a:ext cx="648492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À retenir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14400" y="3467100"/>
            <a:ext cx="3518611" cy="4038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3512820"/>
            <a:ext cx="3372307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Recovery Services vault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4433011" y="3467100"/>
            <a:ext cx="6631229" cy="4038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06163" y="3512820"/>
            <a:ext cx="648492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vault historique pour backup/ASR selon workloads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914400" y="3870960"/>
            <a:ext cx="3518611" cy="4038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3916680"/>
            <a:ext cx="3372307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Backup vault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4433011" y="3870960"/>
            <a:ext cx="6631229" cy="4038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6163" y="3916680"/>
            <a:ext cx="648492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vault moderne pour certains workloads Backup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914400" y="4274820"/>
            <a:ext cx="3518611" cy="4038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4320540"/>
            <a:ext cx="3372307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Policy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4433011" y="4274820"/>
            <a:ext cx="6631229" cy="4038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06163" y="4320540"/>
            <a:ext cx="648492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fréquence, rétention, schedule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914400" y="4678680"/>
            <a:ext cx="3518611" cy="4038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7552" y="4724400"/>
            <a:ext cx="3372307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Restore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4433011" y="4678680"/>
            <a:ext cx="6631229" cy="40386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06163" y="4724400"/>
            <a:ext cx="648492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fichier, disque, VM, workload selon cas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914400" y="5082540"/>
            <a:ext cx="3518611" cy="4038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7552" y="5128260"/>
            <a:ext cx="3372307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Reports/alerts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4433011" y="5082540"/>
            <a:ext cx="6631229" cy="40386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06163" y="5128260"/>
            <a:ext cx="648492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surveiller succès, échecs, conformité</a:t>
            </a:r>
            <a:endParaRPr lang="en-US" sz="74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&amp; MAINTAIN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Site Recovery : continuité après sinistre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41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5D7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D76E"/>
                </a:solidFill>
              </a:rPr>
              <a:t>DR • ASR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463040"/>
            <a:ext cx="64008" cy="100584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1627632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Azure Backup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1993392"/>
            <a:ext cx="454456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8CD"/>
                </a:solidFill>
              </a:rPr>
              <a:t>But : récupérer des données ou workloads après suppression/corruption.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146304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463040"/>
            <a:ext cx="64008" cy="1005840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1627632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Azure Site Recovery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47688" y="1993392"/>
            <a:ext cx="454456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8CD"/>
                </a:solidFill>
              </a:rPr>
              <a:t>But : répliquer et basculer un workload vers une autre région/site.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06324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2461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Primary region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97480" y="341985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94660" y="306324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4DD6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58668" y="32461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Replication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69180" y="341985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66360" y="306324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32461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Secondary region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40880" y="341985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38060" y="306324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2068" y="32461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Failover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212580" y="341985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09760" y="306324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73768" y="32461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Run workload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68680" y="4937760"/>
            <a:ext cx="10424160" cy="685800"/>
          </a:xfrm>
          <a:prstGeom prst="roundRect">
            <a:avLst>
              <a:gd name="adj" fmla="val 8000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4937760"/>
            <a:ext cx="64008" cy="68580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9848" y="5102352"/>
            <a:ext cx="10076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Piège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69848" y="5468112"/>
            <a:ext cx="10076688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8CD"/>
                </a:solidFill>
              </a:rPr>
              <a:t>Backup et ASR ne sont pas interchangeables : Backup restaure ; ASR assure la continuité/failover.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&amp; MAINTAIN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Déclencheurs monitor / recovery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42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5D7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D76E"/>
                </a:solidFill>
              </a:rPr>
              <a:t>QCM • réflexes rapides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234440"/>
            <a:ext cx="3625191" cy="633549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280160"/>
            <a:ext cx="3478887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Si tu lis...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02431" y="1234440"/>
            <a:ext cx="3625191" cy="633549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5583" y="1280160"/>
            <a:ext cx="3478887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Pense à...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27622" y="1234440"/>
            <a:ext cx="3356658" cy="633549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00774" y="1280160"/>
            <a:ext cx="3210354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Pourquoi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1867989"/>
            <a:ext cx="3625191" cy="633549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1913709"/>
            <a:ext cx="3478887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CPU &gt; 90 % envoyer mail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4402431" y="1867989"/>
            <a:ext cx="3625191" cy="633549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75583" y="1913709"/>
            <a:ext cx="3478887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metric alert + action group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8027622" y="1867989"/>
            <a:ext cx="3356658" cy="633549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00774" y="1913709"/>
            <a:ext cx="3210354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condition + notification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501537"/>
            <a:ext cx="3625191" cy="633549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547257"/>
            <a:ext cx="3478887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requêter erreurs applicatives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4402431" y="2501537"/>
            <a:ext cx="3625191" cy="633549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75583" y="2547257"/>
            <a:ext cx="3478887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Log Analytics / KQL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8027622" y="2501537"/>
            <a:ext cx="3356658" cy="633549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00774" y="2547257"/>
            <a:ext cx="3210354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événements détaillés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777240" y="3135086"/>
            <a:ext cx="3625191" cy="633549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180806"/>
            <a:ext cx="3478887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dépanner connectivité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4402431" y="3135086"/>
            <a:ext cx="3625191" cy="633549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75583" y="3180806"/>
            <a:ext cx="3478887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Network Watcher / Connection Monitor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8027622" y="3135086"/>
            <a:ext cx="3356658" cy="633549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00774" y="3180806"/>
            <a:ext cx="3210354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test réseau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77240" y="3768634"/>
            <a:ext cx="3625191" cy="633549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3814354"/>
            <a:ext cx="3478887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période maintenance sans alertes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4402431" y="3768634"/>
            <a:ext cx="3625191" cy="633549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75583" y="3814354"/>
            <a:ext cx="3478887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alert processing rule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8027622" y="3768634"/>
            <a:ext cx="3356658" cy="633549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00774" y="3814354"/>
            <a:ext cx="3210354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suppression/traitement alertes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777240" y="4402183"/>
            <a:ext cx="3625191" cy="633549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" y="4447903"/>
            <a:ext cx="3478887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restaurer fichier supprimé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4402431" y="4402183"/>
            <a:ext cx="3625191" cy="633549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75583" y="4447903"/>
            <a:ext cx="3478887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Azure Backup / soft delete selon ressource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8027622" y="4402183"/>
            <a:ext cx="3356658" cy="633549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00774" y="4447903"/>
            <a:ext cx="3210354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récupération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777240" y="5035731"/>
            <a:ext cx="3625191" cy="633549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" y="5081451"/>
            <a:ext cx="3478887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bascule région secondaire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4402431" y="5035731"/>
            <a:ext cx="3625191" cy="633549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75583" y="5081451"/>
            <a:ext cx="3478887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Site Recovery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027622" y="5035731"/>
            <a:ext cx="3356658" cy="633549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00774" y="5081451"/>
            <a:ext cx="3210354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continuité après sinistre</a:t>
            </a:r>
            <a:endParaRPr lang="en-US" sz="74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DD6D6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31520"/>
            <a:ext cx="118872" cy="5394960"/>
          </a:xfrm>
          <a:prstGeom prst="rect">
            <a:avLst/>
          </a:prstGeom>
          <a:solidFill>
            <a:srgbClr val="4DD6D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</a:rPr>
              <a:t>06 — Méthode examen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96112" y="290779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8CD"/>
                </a:solidFill>
              </a:rPr>
              <a:t>Transformer un énoncé en décision Azure.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915400" y="228600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101F35"/>
          </a:solidFill>
          <a:ln w="15240">
            <a:solidFill>
              <a:srgbClr val="4D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0" y="25328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D6D6"/>
                </a:solidFill>
              </a:rPr>
              <a:t>AZ-104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0" y="28346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B8CD"/>
                </a:solidFill>
              </a:rPr>
              <a:t>référence rapide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43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MÉTHODE EXAMEN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Lire une question AZ-104 en 5 étapes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44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4D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D6D6"/>
                </a:solidFill>
              </a:rPr>
              <a:t>Méthode • anti-panique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508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4D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691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1 Ressource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86537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94660" y="1508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8668" y="1691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2 Contrainte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69180" y="186537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1508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1691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3 Scope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186537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38060" y="1508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2068" y="1691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4 Service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12580" y="1865376"/>
            <a:ext cx="25146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09760" y="1508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B68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73768" y="1691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5 Validation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2971800"/>
            <a:ext cx="2819400" cy="41148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017520"/>
            <a:ext cx="2673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Étape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33800" y="2971800"/>
            <a:ext cx="7330440" cy="41148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06952" y="3017520"/>
            <a:ext cx="7184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Question à poser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14400" y="3383280"/>
            <a:ext cx="2819400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3429000"/>
            <a:ext cx="2673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Ressource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3733800" y="3383280"/>
            <a:ext cx="7330440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06952" y="3429000"/>
            <a:ext cx="7184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VM ? storage ? VNet ? user ? app ?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914400" y="3794760"/>
            <a:ext cx="2819400" cy="41148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3840480"/>
            <a:ext cx="2673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Contrainte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3733800" y="3794760"/>
            <a:ext cx="7330440" cy="41148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06952" y="3840480"/>
            <a:ext cx="7184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sécurité ? coût ? disponibilité ? délai ? accès ?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914400" y="4206240"/>
            <a:ext cx="2819400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4251960"/>
            <a:ext cx="2673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Scope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3733800" y="4206240"/>
            <a:ext cx="7330440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06952" y="4251960"/>
            <a:ext cx="7184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tenant, subscription, RG, resource ?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914400" y="4617720"/>
            <a:ext cx="2819400" cy="41148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7552" y="4663440"/>
            <a:ext cx="2673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Service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3733800" y="4617720"/>
            <a:ext cx="7330440" cy="41148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06952" y="4663440"/>
            <a:ext cx="7184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RBAC, Policy, SAS, Private Endpoint, Backup, ASR...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914400" y="5029200"/>
            <a:ext cx="2819400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7552" y="5074920"/>
            <a:ext cx="2673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Validation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3733800" y="5029200"/>
            <a:ext cx="7330440" cy="41148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06952" y="5074920"/>
            <a:ext cx="7184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quel outil prouve que ça marche ? logs, monitor, effective rules ?</a:t>
            </a:r>
            <a:endParaRPr lang="en-US" sz="74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MÉTHODE EXAMEN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Scénario global : déployer une app Azure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45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4D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D6D6"/>
                </a:solidFill>
              </a:rPr>
              <a:t>Fil rouge • infrastructure complète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B68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Entra/RBAC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77393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032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B68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432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RG/Tags/Policy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177393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9768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VNet/Subnets/NSG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77393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Compute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09560" y="177393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7240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3640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Storage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46920" y="1773936"/>
            <a:ext cx="-182880" cy="0"/>
          </a:xfrm>
          <a:prstGeom prst="line">
            <a:avLst/>
          </a:prstGeom>
          <a:noFill/>
          <a:ln w="19050">
            <a:solidFill>
              <a:srgbClr val="28415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09760" y="141732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101F35"/>
          </a:solidFill>
          <a:ln w="12700">
            <a:solidFill>
              <a:srgbClr val="F5D7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3768" y="1600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Monitor/Backup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2926080"/>
            <a:ext cx="4114800" cy="391886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2971800"/>
            <a:ext cx="3968496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Besoin du scénario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0" y="2926080"/>
            <a:ext cx="6035040" cy="391886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2971800"/>
            <a:ext cx="5888736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Choix probable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14400" y="3317966"/>
            <a:ext cx="4114800" cy="391886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3363686"/>
            <a:ext cx="3968496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séparer environnements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5029200" y="3317966"/>
            <a:ext cx="6035040" cy="391886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3363686"/>
            <a:ext cx="5888736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subscriptions/RG/tags/policies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914400" y="3709851"/>
            <a:ext cx="4114800" cy="391886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3755571"/>
            <a:ext cx="3968496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accès admin sans IP publique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5029200" y="3709851"/>
            <a:ext cx="6035040" cy="391886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3755571"/>
            <a:ext cx="5888736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Bastion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914400" y="4101737"/>
            <a:ext cx="4114800" cy="391886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7552" y="4147457"/>
            <a:ext cx="3968496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web app scalable sans OS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5029200" y="4101737"/>
            <a:ext cx="6035040" cy="391886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4147457"/>
            <a:ext cx="5888736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App Service + Plan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914400" y="4493623"/>
            <a:ext cx="4114800" cy="391886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7552" y="4539343"/>
            <a:ext cx="3968496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données blob privées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5029200" y="4493623"/>
            <a:ext cx="6035040" cy="391886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02352" y="4539343"/>
            <a:ext cx="5888736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Storage firewall + private endpoint + DNS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914400" y="4885509"/>
            <a:ext cx="4114800" cy="391886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7552" y="4931229"/>
            <a:ext cx="3968496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surveiller et alerter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5029200" y="4885509"/>
            <a:ext cx="6035040" cy="391886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02352" y="4931229"/>
            <a:ext cx="5888736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Monitor + alert + action group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914400" y="5277394"/>
            <a:ext cx="4114800" cy="391886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7552" y="5323114"/>
            <a:ext cx="3968496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récupérer après erreur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5029200" y="5277394"/>
            <a:ext cx="6035040" cy="391886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02352" y="5323114"/>
            <a:ext cx="5888736" cy="30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Backup / soft delete / versioning</a:t>
            </a:r>
            <a:endParaRPr lang="en-US" sz="7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MÉTHODE EXAMEN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oppositions qui font gagner des points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46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4D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D6D6"/>
                </a:solidFill>
              </a:rPr>
              <a:t>À apprendre • 8 pièges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685800" y="1234440"/>
            <a:ext cx="2856357" cy="50292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280160"/>
            <a:ext cx="27100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42157" y="1234440"/>
            <a:ext cx="2992374" cy="50292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5309" y="1280160"/>
            <a:ext cx="2846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B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4531" y="1234440"/>
            <a:ext cx="5032629" cy="50292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7683" y="1280160"/>
            <a:ext cx="48863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Différence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" y="1737360"/>
            <a:ext cx="2856357" cy="5029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1783080"/>
            <a:ext cx="27100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RBAC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3542157" y="1737360"/>
            <a:ext cx="2992374" cy="5029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5309" y="1783080"/>
            <a:ext cx="2846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Policy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6534531" y="1737360"/>
            <a:ext cx="5032629" cy="5029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7683" y="1783080"/>
            <a:ext cx="48863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permission vs conformité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85800" y="2240280"/>
            <a:ext cx="2856357" cy="5029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2286000"/>
            <a:ext cx="27100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NSG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3542157" y="2240280"/>
            <a:ext cx="2992374" cy="5029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5309" y="2286000"/>
            <a:ext cx="2846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Route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6534531" y="2240280"/>
            <a:ext cx="5032629" cy="5029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7683" y="2286000"/>
            <a:ext cx="48863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autoriser vs chemin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85800" y="2743200"/>
            <a:ext cx="2856357" cy="5029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2788920"/>
            <a:ext cx="27100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Service Endpoint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3542157" y="2743200"/>
            <a:ext cx="2992374" cy="5029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5309" y="2788920"/>
            <a:ext cx="2846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Private Endpoint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6534531" y="2743200"/>
            <a:ext cx="5032629" cy="5029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7683" y="2788920"/>
            <a:ext cx="48863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service public sécurisé vs IP privée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685800" y="3246120"/>
            <a:ext cx="2856357" cy="5029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" y="3291840"/>
            <a:ext cx="27100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Metric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3542157" y="3246120"/>
            <a:ext cx="2992374" cy="5029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15309" y="3291840"/>
            <a:ext cx="2846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Log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6534531" y="3246120"/>
            <a:ext cx="5032629" cy="5029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7683" y="3291840"/>
            <a:ext cx="48863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valeur vs événement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685800" y="3749040"/>
            <a:ext cx="2856357" cy="5029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" y="3794760"/>
            <a:ext cx="27100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Backup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3542157" y="3749040"/>
            <a:ext cx="2992374" cy="5029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15309" y="3794760"/>
            <a:ext cx="2846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Site Recovery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6534531" y="3749040"/>
            <a:ext cx="5032629" cy="5029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07683" y="3794760"/>
            <a:ext cx="48863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restaurer vs basculer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685800" y="4251960"/>
            <a:ext cx="2856357" cy="5029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" y="4297680"/>
            <a:ext cx="27100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Availability Set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3542157" y="4251960"/>
            <a:ext cx="2992374" cy="5029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15309" y="4297680"/>
            <a:ext cx="2846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Availability Zone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6534531" y="4251960"/>
            <a:ext cx="5032629" cy="5029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07683" y="4297680"/>
            <a:ext cx="48863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logique vs physique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685800" y="4754880"/>
            <a:ext cx="2856357" cy="5029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8952" y="4800600"/>
            <a:ext cx="27100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Access Key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3542157" y="4754880"/>
            <a:ext cx="2992374" cy="5029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15309" y="4800600"/>
            <a:ext cx="2846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SAS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6534531" y="4754880"/>
            <a:ext cx="5032629" cy="50292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07683" y="4800600"/>
            <a:ext cx="48863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large vs délégué limité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685800" y="5257800"/>
            <a:ext cx="2856357" cy="5029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8952" y="5303520"/>
            <a:ext cx="27100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Scale up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3542157" y="5257800"/>
            <a:ext cx="2992374" cy="5029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15309" y="5303520"/>
            <a:ext cx="2846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Scale out</a:t>
            </a:r>
            <a:endParaRPr lang="en-US" sz="740" dirty="0"/>
          </a:p>
        </p:txBody>
      </p:sp>
      <p:sp>
        <p:nvSpPr>
          <p:cNvPr id="62" name="Shape 60"/>
          <p:cNvSpPr/>
          <p:nvPr/>
        </p:nvSpPr>
        <p:spPr>
          <a:xfrm>
            <a:off x="6534531" y="5257800"/>
            <a:ext cx="5032629" cy="50292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07683" y="5303520"/>
            <a:ext cx="48863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machine plus grosse vs plus de machines</a:t>
            </a:r>
            <a:endParaRPr lang="en-US" sz="74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MÉTHODE EXAMEN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Étude de cas : méthode de lecture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47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4D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D6D6"/>
                </a:solidFill>
              </a:rPr>
              <a:t>Case study • garder le fil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822960" y="1417320"/>
            <a:ext cx="3840480" cy="512064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463040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Onglet / info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6583680" cy="512064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463040"/>
            <a:ext cx="6437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Ce que tu notes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2960" y="1929384"/>
            <a:ext cx="3840480" cy="51206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1975104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Overview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4663440" y="1929384"/>
            <a:ext cx="6583680" cy="51206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975104"/>
            <a:ext cx="6437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objectif métier et contraintes majeures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822960" y="2441448"/>
            <a:ext cx="3840480" cy="51206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487168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Existing environment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4663440" y="2441448"/>
            <a:ext cx="6583680" cy="51206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487168"/>
            <a:ext cx="6437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ce qui existe déjà : tenant, subscriptions, réseau, apps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822960" y="2953512"/>
            <a:ext cx="3840480" cy="51206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2999232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Requirements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4663440" y="2953512"/>
            <a:ext cx="6583680" cy="51206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999232"/>
            <a:ext cx="6437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mots-clés : must, must not, minimize, least privilege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822960" y="3465576"/>
            <a:ext cx="3840480" cy="51206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511296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Questions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4663440" y="3465576"/>
            <a:ext cx="6583680" cy="51206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511296"/>
            <a:ext cx="6437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ne réponds qu’avec les exigences applicables à cette question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868680" y="4343400"/>
            <a:ext cx="10424160" cy="822960"/>
          </a:xfrm>
          <a:prstGeom prst="roundRect">
            <a:avLst>
              <a:gd name="adj" fmla="val 6667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4343400"/>
            <a:ext cx="64008" cy="822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9848" y="4507992"/>
            <a:ext cx="10076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Technique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69848" y="4873752"/>
            <a:ext cx="1007668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8CD"/>
                </a:solidFill>
              </a:rPr>
              <a:t>Crée mentalement une table : identité / réseau / stockage / compute / monitoring. Chaque exigence va dans une colonne.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B86B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31520"/>
            <a:ext cx="118872" cy="5394960"/>
          </a:xfrm>
          <a:prstGeom prst="rect">
            <a:avLst/>
          </a:prstGeom>
          <a:solidFill>
            <a:srgbClr val="FFB8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</a:rPr>
              <a:t>Annexe — Recherche rapide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96112" y="290779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8CD"/>
                </a:solidFill>
              </a:rPr>
              <a:t>Tables compactes pour l’entraînement et les révisions.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915400" y="228600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101F35"/>
          </a:solidFill>
          <a:ln w="15240">
            <a:solidFill>
              <a:srgbClr val="FFB8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0" y="25328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6B"/>
                </a:solidFill>
              </a:rPr>
              <a:t>AZ-104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0" y="28346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B8CD"/>
                </a:solidFill>
              </a:rPr>
              <a:t>référence rapide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48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rapide par besoin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49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FB8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B86B"/>
                </a:solidFill>
              </a:rPr>
              <a:t>Annexe • trouver vite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914400" y="1325880"/>
            <a:ext cx="5074920" cy="53721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37160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Besoin / mot-clé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89320" y="1325880"/>
            <a:ext cx="5074920" cy="53721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62472" y="137160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Aller à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1863090"/>
            <a:ext cx="5074920" cy="53721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190881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permissions, scope, least privilege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989320" y="1863090"/>
            <a:ext cx="5074920" cy="53721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190881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A1 RBAC / Governance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914400" y="2400300"/>
            <a:ext cx="5074920" cy="53721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244602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SAS, keys, tiers, lifecycle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5989320" y="2400300"/>
            <a:ext cx="5074920" cy="53721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62472" y="244602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A2 Storage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914400" y="2937510"/>
            <a:ext cx="5074920" cy="53721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298323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VM, App Service, containers, Bicep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5989320" y="2937510"/>
            <a:ext cx="5074920" cy="53721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62472" y="298323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A3 Compute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914400" y="3474720"/>
            <a:ext cx="5074920" cy="53721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352044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NSG, route, peering, endpoints, DNS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5989320" y="3474720"/>
            <a:ext cx="5074920" cy="53721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2472" y="352044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A4 Networking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914400" y="4011930"/>
            <a:ext cx="5074920" cy="53721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405765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metrics, logs, alerts, backup, ASR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5989320" y="4011930"/>
            <a:ext cx="5074920" cy="53721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62472" y="405765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A5 Monitor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914400" y="4549140"/>
            <a:ext cx="5074920" cy="53721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459486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CLI/PowerShell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5989320" y="4549140"/>
            <a:ext cx="5074920" cy="53721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62472" y="459486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A6 Commandes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914400" y="5086350"/>
            <a:ext cx="5074920" cy="53721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7552" y="513207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piège conceptuel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5989320" y="5086350"/>
            <a:ext cx="5074920" cy="53721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62472" y="5132070"/>
            <a:ext cx="49286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A7 Oppositions</a:t>
            </a:r>
            <a:endParaRPr lang="en-US" sz="74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 — RBAC / Policy / Governance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50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B68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689FF"/>
                </a:solidFill>
              </a:rPr>
              <a:t>Quick lookup • identity/governance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234440"/>
            <a:ext cx="4242816" cy="5715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280160"/>
            <a:ext cx="409651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Mot-clé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0056" y="1234440"/>
            <a:ext cx="6364224" cy="5715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3208" y="1280160"/>
            <a:ext cx="6217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Réponse probable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1805940"/>
            <a:ext cx="4242816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1851660"/>
            <a:ext cx="409651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least privilege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020056" y="1805940"/>
            <a:ext cx="6364224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1851660"/>
            <a:ext cx="6217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rôle minimal + scope minimal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77240" y="2377440"/>
            <a:ext cx="4242816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423160"/>
            <a:ext cx="409651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accès à plusieurs utilisateurs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5020056" y="2377440"/>
            <a:ext cx="6364224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3208" y="2423160"/>
            <a:ext cx="6217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groupe Entra + role assignment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948940"/>
            <a:ext cx="4242816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994660"/>
            <a:ext cx="409651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empêcher une région/SKU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5020056" y="2948940"/>
            <a:ext cx="6364224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2994660"/>
            <a:ext cx="6217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Azure Policy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77240" y="3520440"/>
            <a:ext cx="4242816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566160"/>
            <a:ext cx="409651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empêcher suppression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5020056" y="3520440"/>
            <a:ext cx="6364224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3208" y="3566160"/>
            <a:ext cx="6217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CanNotDelete lock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777240" y="4091940"/>
            <a:ext cx="4242816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4137660"/>
            <a:ext cx="409651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classification / coûts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5020056" y="4091940"/>
            <a:ext cx="6364224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93208" y="4137660"/>
            <a:ext cx="6217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tags + cost management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77240" y="4663440"/>
            <a:ext cx="4242816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4709160"/>
            <a:ext cx="409651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mot de passe utilisateur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5020056" y="4663440"/>
            <a:ext cx="6364224" cy="5715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93208" y="4709160"/>
            <a:ext cx="6217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SSPR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77240" y="5234940"/>
            <a:ext cx="4242816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" y="5280660"/>
            <a:ext cx="409651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multi-subscriptions governance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5020056" y="5234940"/>
            <a:ext cx="6364224" cy="5715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93208" y="5280660"/>
            <a:ext cx="6217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management groups + policies</a:t>
            </a:r>
            <a:endParaRPr lang="en-US" sz="74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 — Storage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51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FB8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B86B"/>
                </a:solidFill>
              </a:rPr>
              <a:t>Quick lookup • storage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143000"/>
            <a:ext cx="4242816" cy="5334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188720"/>
            <a:ext cx="409651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Mot-clé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0056" y="1143000"/>
            <a:ext cx="6364224" cy="5334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3208" y="1188720"/>
            <a:ext cx="62179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Réponse probable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1676400"/>
            <a:ext cx="4242816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1722120"/>
            <a:ext cx="409651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accès temporaire limité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020056" y="1676400"/>
            <a:ext cx="6364224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1722120"/>
            <a:ext cx="62179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SAS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77240" y="2209800"/>
            <a:ext cx="4242816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255520"/>
            <a:ext cx="409651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révoquer/centraliser SAS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5020056" y="2209800"/>
            <a:ext cx="6364224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3208" y="2255520"/>
            <a:ext cx="62179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stored access policy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4242816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788920"/>
            <a:ext cx="409651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copie massive données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5020056" y="2743200"/>
            <a:ext cx="6364224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2788920"/>
            <a:ext cx="62179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AzCopy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77240" y="3276600"/>
            <a:ext cx="4242816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322320"/>
            <a:ext cx="409651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exploration graphique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5020056" y="3276600"/>
            <a:ext cx="6364224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3208" y="3322320"/>
            <a:ext cx="62179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Storage Explorer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777240" y="3810000"/>
            <a:ext cx="4242816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3855720"/>
            <a:ext cx="409651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objets anciens à coût réduit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5020056" y="3810000"/>
            <a:ext cx="6364224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93208" y="3855720"/>
            <a:ext cx="62179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tiers + lifecycle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77240" y="4343400"/>
            <a:ext cx="4242816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4389120"/>
            <a:ext cx="409651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suppression accidentelle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5020056" y="4343400"/>
            <a:ext cx="6364224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93208" y="4389120"/>
            <a:ext cx="62179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soft delete / versioning / snapshot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77240" y="4876800"/>
            <a:ext cx="4242816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" y="4922520"/>
            <a:ext cx="409651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résilience zone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5020056" y="4876800"/>
            <a:ext cx="6364224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93208" y="4922520"/>
            <a:ext cx="62179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ZRS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777240" y="5410200"/>
            <a:ext cx="4242816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" y="5455920"/>
            <a:ext cx="409651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sinistre région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5020056" y="5410200"/>
            <a:ext cx="6364224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93208" y="5455920"/>
            <a:ext cx="62179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GRS/GZRS ou stratégie DR</a:t>
            </a:r>
            <a:endParaRPr lang="en-US" sz="74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A3 — Compute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52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5B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8CFF"/>
                </a:solidFill>
              </a:rPr>
              <a:t>Quick lookup • compute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097280"/>
            <a:ext cx="4384243" cy="489204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143000"/>
            <a:ext cx="423793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Mot-clé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61483" y="1097280"/>
            <a:ext cx="6222797" cy="489204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4635" y="1143000"/>
            <a:ext cx="6076493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Réponse probable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1586484"/>
            <a:ext cx="4384243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1632204"/>
            <a:ext cx="423793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infrastructure reproductible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161483" y="1586484"/>
            <a:ext cx="6222797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4635" y="1632204"/>
            <a:ext cx="6076493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ARM/Bicep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77240" y="2075688"/>
            <a:ext cx="4384243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121408"/>
            <a:ext cx="423793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OS complet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5161483" y="2075688"/>
            <a:ext cx="6222797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4635" y="2121408"/>
            <a:ext cx="6076493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VM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564892"/>
            <a:ext cx="4384243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610612"/>
            <a:ext cx="423793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groupe de VM scalable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5161483" y="2564892"/>
            <a:ext cx="6222797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4635" y="2610612"/>
            <a:ext cx="6076493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VMSS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77240" y="3054096"/>
            <a:ext cx="4384243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099816"/>
            <a:ext cx="423793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séparation datacenters physiques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5161483" y="3054096"/>
            <a:ext cx="6222797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4635" y="3099816"/>
            <a:ext cx="6076493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Availability Zones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777240" y="3543300"/>
            <a:ext cx="4384243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3589020"/>
            <a:ext cx="423793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web app sans gérer OS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5161483" y="3543300"/>
            <a:ext cx="6222797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4635" y="3589020"/>
            <a:ext cx="6076493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App Service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77240" y="4032504"/>
            <a:ext cx="4384243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4078224"/>
            <a:ext cx="423793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préproduction puis swap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5161483" y="4032504"/>
            <a:ext cx="6222797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4635" y="4078224"/>
            <a:ext cx="6076493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Deployment slots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77240" y="4521708"/>
            <a:ext cx="4384243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" y="4567428"/>
            <a:ext cx="423793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registre image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5161483" y="4521708"/>
            <a:ext cx="6222797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4635" y="4567428"/>
            <a:ext cx="6076493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ACR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777240" y="5010912"/>
            <a:ext cx="4384243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" y="5056632"/>
            <a:ext cx="423793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container simple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5161483" y="5010912"/>
            <a:ext cx="6222797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4635" y="5056632"/>
            <a:ext cx="6076493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ACI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777240" y="5500116"/>
            <a:ext cx="4384243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" y="5545836"/>
            <a:ext cx="423793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app containerisée managée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5161483" y="5500116"/>
            <a:ext cx="6222797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34635" y="5545836"/>
            <a:ext cx="6076493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Container Apps</a:t>
            </a:r>
            <a:endParaRPr lang="en-US" sz="74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A4 — Networking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53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E7B7"/>
                </a:solidFill>
              </a:rPr>
              <a:t>Quick lookup • network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170432"/>
            <a:ext cx="4408121" cy="489204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216152"/>
            <a:ext cx="4261817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Mot-clé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85361" y="1170432"/>
            <a:ext cx="6198919" cy="489204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8513" y="1216152"/>
            <a:ext cx="605261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Réponse probable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1659636"/>
            <a:ext cx="4408121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1705356"/>
            <a:ext cx="4261817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filtrer trafic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185361" y="1659636"/>
            <a:ext cx="6198919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8513" y="1705356"/>
            <a:ext cx="605261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NSG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77240" y="2148840"/>
            <a:ext cx="4408121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194560"/>
            <a:ext cx="4261817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grouper VM dans règles NSG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5185361" y="2148840"/>
            <a:ext cx="6198919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8513" y="2194560"/>
            <a:ext cx="605261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ASG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638044"/>
            <a:ext cx="4408121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683764"/>
            <a:ext cx="4261817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forcer chemin via firewall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5185361" y="2638044"/>
            <a:ext cx="6198919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8513" y="2683764"/>
            <a:ext cx="605261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UDR / route table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77240" y="3127248"/>
            <a:ext cx="4408121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172968"/>
            <a:ext cx="4261817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lier deux VNets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5185361" y="3127248"/>
            <a:ext cx="6198919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8513" y="3172968"/>
            <a:ext cx="605261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VNet peering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777240" y="3616452"/>
            <a:ext cx="4408121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3662172"/>
            <a:ext cx="4261817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admin RDP/SSH sans IP publique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5185361" y="3616452"/>
            <a:ext cx="6198919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8513" y="3662172"/>
            <a:ext cx="605261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Azure Bastion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77240" y="4105656"/>
            <a:ext cx="4408121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4151376"/>
            <a:ext cx="4261817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PaaS avec IP privée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5185361" y="4105656"/>
            <a:ext cx="6198919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8513" y="4151376"/>
            <a:ext cx="605261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Private Endpoint + Private DNS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77240" y="4594860"/>
            <a:ext cx="4408121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" y="4640580"/>
            <a:ext cx="4261817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PaaS depuis subnet sans IP privée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5185361" y="4594860"/>
            <a:ext cx="6198919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8513" y="4640580"/>
            <a:ext cx="605261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Service Endpoint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777240" y="5084064"/>
            <a:ext cx="4408121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" y="5129784"/>
            <a:ext cx="4261817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répartition TCP/UDP L4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5185361" y="5084064"/>
            <a:ext cx="6198919" cy="489204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8513" y="5129784"/>
            <a:ext cx="605261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Azure Load Balancer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777240" y="5573268"/>
            <a:ext cx="4408121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" y="5618988"/>
            <a:ext cx="4261817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dépanner chemin réseau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5185361" y="5573268"/>
            <a:ext cx="6198919" cy="489204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58513" y="5618988"/>
            <a:ext cx="605261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Network Watcher effective routes/rules</a:t>
            </a:r>
            <a:endParaRPr lang="en-US" sz="74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A5 — Monitor / Backup / DR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54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5D7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D76E"/>
                </a:solidFill>
              </a:rPr>
              <a:t>Quick lookup • operate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143000"/>
            <a:ext cx="4408121" cy="5334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188720"/>
            <a:ext cx="4261817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Mot-clé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85361" y="1143000"/>
            <a:ext cx="6198919" cy="53340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8513" y="1188720"/>
            <a:ext cx="605261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Réponse probable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1676400"/>
            <a:ext cx="4408121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1722120"/>
            <a:ext cx="4261817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valeur numérique CPU/latence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185361" y="1676400"/>
            <a:ext cx="6198919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8513" y="1722120"/>
            <a:ext cx="605261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Metrics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77240" y="2209800"/>
            <a:ext cx="4408121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255520"/>
            <a:ext cx="4261817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événements détaillés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5185361" y="2209800"/>
            <a:ext cx="6198919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8513" y="2255520"/>
            <a:ext cx="605261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Logs / Log Analytics / KQL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4408121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788920"/>
            <a:ext cx="4261817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notification condition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5185361" y="2743200"/>
            <a:ext cx="6198919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8513" y="2788920"/>
            <a:ext cx="605261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Alert rule + action group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77240" y="3276600"/>
            <a:ext cx="4408121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322320"/>
            <a:ext cx="4261817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maintenance sans alertes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5185361" y="3276600"/>
            <a:ext cx="6198919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8513" y="3322320"/>
            <a:ext cx="605261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Alert processing rule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777240" y="3810000"/>
            <a:ext cx="4408121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3855720"/>
            <a:ext cx="4261817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dépendances VM/performance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5185361" y="3810000"/>
            <a:ext cx="6198919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8513" y="3855720"/>
            <a:ext cx="605261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VM Insights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77240" y="4343400"/>
            <a:ext cx="4408121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4389120"/>
            <a:ext cx="4261817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connectivité source-destination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5185361" y="4343400"/>
            <a:ext cx="6198919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8513" y="4389120"/>
            <a:ext cx="605261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Connection Monitor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77240" y="4876800"/>
            <a:ext cx="4408121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" y="4922520"/>
            <a:ext cx="4261817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récupérer données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5185361" y="4876800"/>
            <a:ext cx="6198919" cy="53340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8513" y="4922520"/>
            <a:ext cx="605261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Azure Backup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777240" y="5410200"/>
            <a:ext cx="4408121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" y="5455920"/>
            <a:ext cx="4261817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bascule secondaire région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5185361" y="5410200"/>
            <a:ext cx="6198919" cy="53340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8513" y="5455920"/>
            <a:ext cx="6052615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Azure Site Recovery</a:t>
            </a:r>
            <a:endParaRPr lang="en-US" sz="74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A6 — Commandes rapides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55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4D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D6D6"/>
                </a:solidFill>
              </a:rPr>
              <a:t>CLI / PowerShell • repères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640080" y="1097280"/>
            <a:ext cx="4114800" cy="611505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143000"/>
            <a:ext cx="39684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Objectif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6858000" cy="611505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143000"/>
            <a:ext cx="67116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Commande repère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1708785"/>
            <a:ext cx="4114800" cy="61150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754505"/>
            <a:ext cx="39684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Lister role assignments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4754880" y="1708785"/>
            <a:ext cx="6858000" cy="61150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754505"/>
            <a:ext cx="67116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 role assignment list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40080" y="2320290"/>
            <a:ext cx="4114800" cy="61150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366010"/>
            <a:ext cx="39684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Créer resource group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4754880" y="2320290"/>
            <a:ext cx="6858000" cy="61150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366010"/>
            <a:ext cx="67116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 group create --name RG --location francecentral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40080" y="2931795"/>
            <a:ext cx="4114800" cy="61150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977515"/>
            <a:ext cx="39684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Déployer Bicep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4754880" y="2931795"/>
            <a:ext cx="6858000" cy="61150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977515"/>
            <a:ext cx="67116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 deployment group create -g RG -f main.bicep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640080" y="3543300"/>
            <a:ext cx="4114800" cy="61150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589020"/>
            <a:ext cx="39684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Copier blobs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4754880" y="3543300"/>
            <a:ext cx="6858000" cy="61150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589020"/>
            <a:ext cx="67116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azcopy copy &lt;src&gt; &lt;dst&gt; --recursive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640080" y="4154805"/>
            <a:ext cx="4114800" cy="61150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200525"/>
            <a:ext cx="39684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Lister NSG rules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4754880" y="4154805"/>
            <a:ext cx="6858000" cy="61150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200525"/>
            <a:ext cx="67116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 network nsg rule list -g RG --nsg-name NSG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640080" y="4766310"/>
            <a:ext cx="4114800" cy="61150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4812030"/>
            <a:ext cx="39684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Voir effective routes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4754880" y="4766310"/>
            <a:ext cx="6858000" cy="61150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4812030"/>
            <a:ext cx="67116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 network nic show-effective-route-table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640080" y="5377815"/>
            <a:ext cx="4114800" cy="61150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5423535"/>
            <a:ext cx="39684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KQL logs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4754880" y="5377815"/>
            <a:ext cx="6858000" cy="61150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5423535"/>
            <a:ext cx="6711696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Azure Portal &gt; Log Analytics &gt; Logs</a:t>
            </a:r>
            <a:endParaRPr lang="en-US" sz="74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A7 — Glossaire ultra-court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56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FFB8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B86B"/>
                </a:solidFill>
              </a:rPr>
              <a:t>Index • mots-clés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7240" y="1143000"/>
            <a:ext cx="3153444" cy="600075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188720"/>
            <a:ext cx="30071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Terme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30684" y="1143000"/>
            <a:ext cx="7453596" cy="600075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3836" y="1188720"/>
            <a:ext cx="730729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Définition utile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1743075"/>
            <a:ext cx="3153444" cy="60007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1788795"/>
            <a:ext cx="30071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Tenant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3930684" y="1743075"/>
            <a:ext cx="7453596" cy="60007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03836" y="1788795"/>
            <a:ext cx="730729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instance Entra ID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77240" y="2343150"/>
            <a:ext cx="3153444" cy="60007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388870"/>
            <a:ext cx="30071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Subscription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3930684" y="2343150"/>
            <a:ext cx="7453596" cy="60007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3836" y="2388870"/>
            <a:ext cx="730729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frontière de facturation/administration Azure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77240" y="2943225"/>
            <a:ext cx="3153444" cy="60007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988945"/>
            <a:ext cx="30071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Resource Group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3930684" y="2943225"/>
            <a:ext cx="7453596" cy="60007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3836" y="2988945"/>
            <a:ext cx="730729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cycle de vie logique de ressources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77240" y="3543300"/>
            <a:ext cx="3153444" cy="60007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589020"/>
            <a:ext cx="30071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Scope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930684" y="3543300"/>
            <a:ext cx="7453596" cy="60007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3836" y="3589020"/>
            <a:ext cx="730729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niveau où s’applique RBAC/Policy/lock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777240" y="4143375"/>
            <a:ext cx="3153444" cy="60007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4189095"/>
            <a:ext cx="30071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Private Link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3930684" y="4143375"/>
            <a:ext cx="7453596" cy="60007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3836" y="4189095"/>
            <a:ext cx="730729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accès privé à service PaaS via private endpoint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77240" y="4743450"/>
            <a:ext cx="3153444" cy="60007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4789170"/>
            <a:ext cx="30071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KQL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3930684" y="4743450"/>
            <a:ext cx="7453596" cy="600075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03836" y="4789170"/>
            <a:ext cx="730729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langage de requête pour logs Azure Monitor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77240" y="5343525"/>
            <a:ext cx="3153444" cy="60007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" y="5389245"/>
            <a:ext cx="3007140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RPO/RTO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3930684" y="5343525"/>
            <a:ext cx="7453596" cy="600075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3836" y="5389245"/>
            <a:ext cx="730729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perte de données tolérée / délai de reprise attendu</a:t>
            </a:r>
            <a:endParaRPr lang="en-US" sz="74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phrase à connaître par cœur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57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4D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D6D6"/>
                </a:solidFill>
              </a:rPr>
              <a:t>Synthèse • avant les questions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868680" y="1645920"/>
            <a:ext cx="10469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4F7FB"/>
                </a:solidFill>
              </a:rPr>
              <a:t>Entra identifie, RBAC autorise, Policy gouverne, VNet connecte, NSG filtre, Route dirige, Compute exécute, Storage conserve, Monitor observe, Backup restaure et Site Recovery bascule.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1280160" y="3886200"/>
            <a:ext cx="9601200" cy="1005840"/>
          </a:xfrm>
          <a:prstGeom prst="roundRect">
            <a:avLst>
              <a:gd name="adj" fmla="val 5455"/>
            </a:avLst>
          </a:prstGeom>
          <a:solidFill>
            <a:srgbClr val="101F35"/>
          </a:solidFill>
          <a:ln w="10160">
            <a:solidFill>
              <a:srgbClr val="2841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3886200"/>
            <a:ext cx="64008" cy="100584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81328" y="4050792"/>
            <a:ext cx="9253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À faire avant 50 questions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81328" y="4416552"/>
            <a:ext cx="92537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9B8CD"/>
                </a:solidFill>
              </a:rPr>
              <a:t>1. Relire les oppositions. 2. Faire un examen blanc. 3. Marquer les confusions. 4. Revenir à l’annexe uniquement sur les points faibles.</a:t>
            </a:r>
            <a:endParaRPr lang="en-US" sz="122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DD6D6"/>
          </a:solidFill>
          <a:ln w="12700">
            <a:solidFill>
              <a:srgbClr val="4DD6D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D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 principales et périmètre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28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AZ-104 • cours structure v3 • 58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035040" y="654710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84A3"/>
                </a:solidFill>
              </a:rPr>
              <a:t>Objectif : retrouver l’information en moins de 10 secondes pendant l’entraînement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8732520" y="384048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B1729"/>
          </a:solidFill>
          <a:ln w="8890">
            <a:solidFill>
              <a:srgbClr val="4DD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96528" y="44348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D6D6"/>
                </a:solidFill>
              </a:rPr>
              <a:t>Conformité • Microsoft Learn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868680" y="1417320"/>
            <a:ext cx="105156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8CD"/>
                </a:solidFill>
              </a:rPr>
              <a:t>• Guide officiel Microsoft Learn AZ-104 : compétences mesurées depuis le 17 avril 2026.
</a:t>
            </a:r>
            <a:pPr indent="0" marL="0">
              <a:buNone/>
            </a:pPr>
            <a:r>
              <a:rPr lang="en-US" sz="1100" dirty="0">
                <a:solidFill>
                  <a:srgbClr val="A9B8CD"/>
                </a:solidFill>
              </a:rPr>
              <a:t>• Cours AZ-104T00-A : structure de formation Microsoft Azure Administrator.
</a:t>
            </a:r>
            <a:pPr indent="0" marL="0">
              <a:buNone/>
            </a:pPr>
            <a:r>
              <a:rPr lang="en-US" sz="1100" dirty="0">
                <a:solidFill>
                  <a:srgbClr val="A9B8CD"/>
                </a:solidFill>
              </a:rPr>
              <a:t>• Documentation Microsoft Learn utilisée pour préciser Private Endpoint, VPN/ExpressRoute, deny assignments et CLI Site Recovery.
</a:t>
            </a:r>
            <a:pPr indent="0" marL="0">
              <a:buNone/>
            </a:pPr>
            <a:r>
              <a:rPr lang="en-US" sz="1100" dirty="0">
                <a:solidFill>
                  <a:srgbClr val="A9B8CD"/>
                </a:solidFill>
              </a:rPr>
              <a:t>• Ce support est un condensé opérationnel : il ne remplace pas les labs pratiques ni la documentation officielle.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3154680"/>
            <a:ext cx="6069764" cy="3962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200400"/>
            <a:ext cx="5923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URL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38444" y="3154680"/>
            <a:ext cx="4354396" cy="396240"/>
          </a:xfrm>
          <a:prstGeom prst="rect">
            <a:avLst/>
          </a:prstGeom>
          <a:solidFill>
            <a:srgbClr val="132743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1596" y="3200400"/>
            <a:ext cx="4208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DD6D6"/>
                </a:solidFill>
              </a:rPr>
              <a:t>Usage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68680" y="3550920"/>
            <a:ext cx="6069764" cy="3962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596640"/>
            <a:ext cx="5923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learn.microsoft.com/.../study-guides/az-104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6938444" y="3550920"/>
            <a:ext cx="4354396" cy="3962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1596" y="3596640"/>
            <a:ext cx="4208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blueprint et objectifs officiels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868680" y="3947160"/>
            <a:ext cx="6069764" cy="3962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3992880"/>
            <a:ext cx="5923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learn.microsoft.com/.../az-104t00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6938444" y="3947160"/>
            <a:ext cx="4354396" cy="3962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1596" y="3992880"/>
            <a:ext cx="4208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structure formation Microsoft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868680" y="4343400"/>
            <a:ext cx="6069764" cy="3962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4389120"/>
            <a:ext cx="5923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learn.microsoft.com/.../private-link-faq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6938444" y="4343400"/>
            <a:ext cx="4354396" cy="3962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11596" y="4389120"/>
            <a:ext cx="4208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Private Endpoint vs Service Endpoint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68680" y="4739640"/>
            <a:ext cx="6069764" cy="3962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785360"/>
            <a:ext cx="5923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learn.microsoft.com/.../vpn-gateway/design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6938444" y="4739640"/>
            <a:ext cx="4354396" cy="396240"/>
          </a:xfrm>
          <a:prstGeom prst="rect">
            <a:avLst/>
          </a:prstGeom>
          <a:solidFill>
            <a:srgbClr val="0B1729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1596" y="4785360"/>
            <a:ext cx="4208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VPN Gateway / connectivité hybride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868680" y="5135880"/>
            <a:ext cx="6069764" cy="3962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" y="5181600"/>
            <a:ext cx="5923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learn.microsoft.com/.../deny-assignments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6938444" y="5135880"/>
            <a:ext cx="4354396" cy="396240"/>
          </a:xfrm>
          <a:prstGeom prst="rect">
            <a:avLst/>
          </a:prstGeom>
          <a:solidFill>
            <a:srgbClr val="101F35"/>
          </a:solidFill>
          <a:ln w="5715">
            <a:solidFill>
              <a:srgbClr val="2841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11596" y="5181600"/>
            <a:ext cx="4208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9B8CD"/>
                </a:solidFill>
              </a:rPr>
              <a:t>nuance deny assignments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NOWBRAINS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AZ-104 - Infrastructure Azure - cours structure</dc:title>
  <dc:subject>AZ-104</dc:subject>
  <dc:creator>OpenAI - ChatGPT</dc:creator>
  <cp:lastModifiedBy>OpenAI - ChatGPT</cp:lastModifiedBy>
  <cp:revision>1</cp:revision>
  <dcterms:created xsi:type="dcterms:W3CDTF">2026-09-30T07:34:52Z</dcterms:created>
  <dcterms:modified xsi:type="dcterms:W3CDTF">2026-09-30T07:34:52Z</dcterms:modified>
</cp:coreProperties>
</file>